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embeddedFontLst>
    <p:embeddedFont>
      <p:font typeface="Lato" panose="020F0502020204030204" pitchFamily="34" charset="0"/>
      <p:regular r:id="rId19"/>
      <p:bold r:id="rId20"/>
      <p:italic r:id="rId21"/>
      <p:boldItalic r:id="rId22"/>
    </p:embeddedFont>
    <p:embeddedFont>
      <p:font typeface="Poppins" panose="00000500000000000000" pitchFamily="2" charset="0"/>
      <p:regular r:id="rId23"/>
      <p:bold r:id="rId24"/>
      <p:italic r:id="rId25"/>
      <p:boldItalic r:id="rId26"/>
    </p:embeddedFont>
    <p:embeddedFont>
      <p:font typeface="Roboto" panose="020F0502020204030204" pitchFamily="2"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aeefc73e17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aeefc73e1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2" name="Google Shape;2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aeefc73e17_0_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3aeefc73e17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aeefc73e17_0_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3aeefc73e17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5" name="Google Shape;285;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3" name="Google Shape;313;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2" name="Google Shape;332;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4.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png"/><Relationship Id="rId7"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9.pn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png"/><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571500" y="2236589"/>
            <a:ext cx="11601450" cy="1462980"/>
          </a:xfrm>
          <a:prstGeom prst="rect">
            <a:avLst/>
          </a:prstGeom>
          <a:noFill/>
          <a:ln>
            <a:noFill/>
          </a:ln>
        </p:spPr>
        <p:txBody>
          <a:bodyPr spcFirstLastPara="1" wrap="square" lIns="0" tIns="0" rIns="0" bIns="0" anchor="t" anchorCtr="0">
            <a:spAutoFit/>
          </a:bodyPr>
          <a:lstStyle/>
          <a:p>
            <a:pPr marL="0" marR="0" lvl="0" indent="0" algn="l" rtl="0">
              <a:lnSpc>
                <a:spcPct val="119979"/>
              </a:lnSpc>
              <a:spcBef>
                <a:spcPts val="0"/>
              </a:spcBef>
              <a:spcAft>
                <a:spcPts val="0"/>
              </a:spcAft>
              <a:buNone/>
            </a:pPr>
            <a:r>
              <a:rPr lang="en-US" sz="4800" b="1" i="0" u="none" strike="noStrike" cap="none">
                <a:solidFill>
                  <a:srgbClr val="1E293B"/>
                </a:solidFill>
                <a:latin typeface="Poppins"/>
                <a:ea typeface="Poppins"/>
                <a:cs typeface="Poppins"/>
                <a:sym typeface="Poppins"/>
              </a:rPr>
              <a:t>Predictive Maintenance for Smart Factories</a:t>
            </a:r>
            <a:endParaRPr/>
          </a:p>
        </p:txBody>
      </p:sp>
      <p:sp>
        <p:nvSpPr>
          <p:cNvPr id="86" name="Google Shape;86;p13"/>
          <p:cNvSpPr txBox="1"/>
          <p:nvPr/>
        </p:nvSpPr>
        <p:spPr>
          <a:xfrm>
            <a:off x="571500" y="3890069"/>
            <a:ext cx="11049000" cy="72030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475569"/>
                </a:solidFill>
                <a:latin typeface="Lato"/>
                <a:ea typeface="Lato"/>
                <a:cs typeface="Lato"/>
                <a:sym typeface="Lato"/>
              </a:rPr>
              <a:t>A Data-Driven Approach to Forecasting Machine Failure</a:t>
            </a:r>
            <a:endParaRPr sz="1800">
              <a:solidFill>
                <a:srgbClr val="475569"/>
              </a:solidFill>
              <a:latin typeface="Lato"/>
              <a:ea typeface="Lato"/>
              <a:cs typeface="Lato"/>
              <a:sym typeface="Lato"/>
            </a:endParaRPr>
          </a:p>
          <a:p>
            <a:pPr marL="0" marR="0" lvl="0" indent="0" algn="l" rtl="0">
              <a:lnSpc>
                <a:spcPct val="159944"/>
              </a:lnSpc>
              <a:spcBef>
                <a:spcPts val="0"/>
              </a:spcBef>
              <a:spcAft>
                <a:spcPts val="0"/>
              </a:spcAft>
              <a:buNone/>
            </a:pPr>
            <a:r>
              <a:rPr lang="en-US" sz="1800" b="0" i="0" u="none" strike="noStrike" cap="none">
                <a:solidFill>
                  <a:srgbClr val="475569"/>
                </a:solidFill>
                <a:latin typeface="Lato"/>
                <a:ea typeface="Lato"/>
                <a:cs typeface="Lato"/>
                <a:sym typeface="Lato"/>
              </a:rPr>
              <a:t> Dataset </a:t>
            </a:r>
            <a:r>
              <a:rPr lang="en-US" sz="1800" b="1">
                <a:solidFill>
                  <a:srgbClr val="475569"/>
                </a:solidFill>
                <a:latin typeface="Lato"/>
                <a:ea typeface="Lato"/>
                <a:cs typeface="Lato"/>
                <a:sym typeface="Lato"/>
              </a:rPr>
              <a:t>link- https://archive.ics.uci.edu/dataset/601/ai4i+2020+predictive+maintenance+dataset</a:t>
            </a:r>
            <a:endParaRPr b="1">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0"/>
        <p:cNvGrpSpPr/>
        <p:nvPr/>
      </p:nvGrpSpPr>
      <p:grpSpPr>
        <a:xfrm>
          <a:off x="0" y="0"/>
          <a:ext cx="0" cy="0"/>
          <a:chOff x="0" y="0"/>
          <a:chExt cx="0" cy="0"/>
        </a:xfrm>
      </p:grpSpPr>
      <p:pic>
        <p:nvPicPr>
          <p:cNvPr id="91" name="Google Shape;91;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2" name="Google Shape;92;p14" descr="image.png"/>
          <p:cNvPicPr preferRelativeResize="0"/>
          <p:nvPr/>
        </p:nvPicPr>
        <p:blipFill rotWithShape="1">
          <a:blip r:embed="rId4">
            <a:alphaModFix/>
          </a:blip>
          <a:srcRect/>
          <a:stretch/>
        </p:blipFill>
        <p:spPr>
          <a:xfrm>
            <a:off x="571500" y="2021234"/>
            <a:ext cx="5334000" cy="3577381"/>
          </a:xfrm>
          <a:prstGeom prst="rect">
            <a:avLst/>
          </a:prstGeom>
          <a:noFill/>
          <a:ln>
            <a:noFill/>
          </a:ln>
        </p:spPr>
      </p:pic>
      <p:pic>
        <p:nvPicPr>
          <p:cNvPr id="93" name="Google Shape;93;p14" descr="image.png"/>
          <p:cNvPicPr preferRelativeResize="0"/>
          <p:nvPr/>
        </p:nvPicPr>
        <p:blipFill rotWithShape="1">
          <a:blip r:embed="rId5">
            <a:alphaModFix/>
          </a:blip>
          <a:srcRect/>
          <a:stretch/>
        </p:blipFill>
        <p:spPr>
          <a:xfrm>
            <a:off x="6286500" y="2021234"/>
            <a:ext cx="5334000" cy="3577381"/>
          </a:xfrm>
          <a:prstGeom prst="rect">
            <a:avLst/>
          </a:prstGeom>
          <a:noFill/>
          <a:ln>
            <a:noFill/>
          </a:ln>
        </p:spPr>
      </p:pic>
      <p:sp>
        <p:nvSpPr>
          <p:cNvPr id="94" name="Google Shape;94;p14"/>
          <p:cNvSpPr txBox="1"/>
          <p:nvPr/>
        </p:nvSpPr>
        <p:spPr>
          <a:xfrm>
            <a:off x="866775" y="2316509"/>
            <a:ext cx="4980622"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B82F6"/>
                </a:solidFill>
                <a:latin typeface="Poppins"/>
                <a:ea typeface="Poppins"/>
                <a:cs typeface="Poppins"/>
                <a:sym typeface="Poppins"/>
              </a:rPr>
              <a:t>The Business Problem</a:t>
            </a:r>
            <a:endParaRPr/>
          </a:p>
        </p:txBody>
      </p:sp>
      <p:sp>
        <p:nvSpPr>
          <p:cNvPr id="95" name="Google Shape;95;p14"/>
          <p:cNvSpPr txBox="1"/>
          <p:nvPr/>
        </p:nvSpPr>
        <p:spPr>
          <a:xfrm>
            <a:off x="866775" y="2811809"/>
            <a:ext cx="4743450"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Unplanned manufacturing downtime is a critical business challenge. Each hour a machine is unexpectedly offline leads to significant financial losses from:</a:t>
            </a:r>
            <a:endParaRPr/>
          </a:p>
        </p:txBody>
      </p:sp>
      <p:sp>
        <p:nvSpPr>
          <p:cNvPr id="96" name="Google Shape;96;p14"/>
          <p:cNvSpPr txBox="1"/>
          <p:nvPr/>
        </p:nvSpPr>
        <p:spPr>
          <a:xfrm>
            <a:off x="6581775" y="2316509"/>
            <a:ext cx="4980622"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B82F6"/>
                </a:solidFill>
                <a:latin typeface="Poppins"/>
                <a:ea typeface="Poppins"/>
                <a:cs typeface="Poppins"/>
                <a:sym typeface="Poppins"/>
              </a:rPr>
              <a:t>The Project Goal</a:t>
            </a:r>
            <a:endParaRPr/>
          </a:p>
        </p:txBody>
      </p:sp>
      <p:sp>
        <p:nvSpPr>
          <p:cNvPr id="97" name="Google Shape;97;p14"/>
          <p:cNvSpPr txBox="1"/>
          <p:nvPr/>
        </p:nvSpPr>
        <p:spPr>
          <a:xfrm>
            <a:off x="6581775" y="2811809"/>
            <a:ext cx="4743450" cy="2194321"/>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350" b="0" i="0" u="none" strike="noStrike" cap="none">
                <a:solidFill>
                  <a:srgbClr val="475569"/>
                </a:solidFill>
                <a:latin typeface="Lato"/>
                <a:ea typeface="Lato"/>
                <a:cs typeface="Lato"/>
                <a:sym typeface="Lato"/>
              </a:rPr>
              <a:t>This project uses the AI4I 2020 dataset as a case study to build a robust classification model. </a:t>
            </a:r>
            <a:br>
              <a:rPr lang="en-US" sz="1800" b="0" i="0" u="none" strike="noStrike" cap="none">
                <a:solidFill>
                  <a:schemeClr val="dk1"/>
                </a:solidFill>
                <a:latin typeface="Calibri"/>
                <a:ea typeface="Calibri"/>
                <a:cs typeface="Calibri"/>
                <a:sym typeface="Calibri"/>
              </a:rPr>
            </a:br>
            <a:br>
              <a:rPr lang="en-US" sz="1800" b="0" i="0" u="none" strike="noStrike" cap="none">
                <a:solidFill>
                  <a:schemeClr val="dk1"/>
                </a:solidFill>
                <a:latin typeface="Calibri"/>
                <a:ea typeface="Calibri"/>
                <a:cs typeface="Calibri"/>
                <a:sym typeface="Calibri"/>
              </a:rPr>
            </a:br>
            <a:r>
              <a:rPr lang="en-US" sz="1350" b="1" i="0" u="none" strike="noStrike" cap="none">
                <a:solidFill>
                  <a:srgbClr val="475569"/>
                </a:solidFill>
                <a:latin typeface="Lato"/>
                <a:ea typeface="Lato"/>
                <a:cs typeface="Lato"/>
                <a:sym typeface="Lato"/>
              </a:rPr>
              <a:t>Goal:</a:t>
            </a:r>
            <a:r>
              <a:rPr lang="en-US" sz="1350" b="0" i="0" u="none" strike="noStrike" cap="none">
                <a:solidFill>
                  <a:srgbClr val="475569"/>
                </a:solidFill>
                <a:latin typeface="Lato"/>
                <a:ea typeface="Lato"/>
                <a:cs typeface="Lato"/>
                <a:sym typeface="Lato"/>
              </a:rPr>
              <a:t> Proactively predict machine failure *before* it occurs by analyzing real-time sensor data. </a:t>
            </a:r>
            <a:br>
              <a:rPr lang="en-US" sz="1800" b="0" i="0" u="none" strike="noStrike" cap="none">
                <a:solidFill>
                  <a:schemeClr val="dk1"/>
                </a:solidFill>
                <a:latin typeface="Calibri"/>
                <a:ea typeface="Calibri"/>
                <a:cs typeface="Calibri"/>
                <a:sym typeface="Calibri"/>
              </a:rPr>
            </a:br>
            <a:br>
              <a:rPr lang="en-US" sz="1800" b="0" i="0" u="none" strike="noStrike" cap="none">
                <a:solidFill>
                  <a:schemeClr val="dk1"/>
                </a:solidFill>
                <a:latin typeface="Calibri"/>
                <a:ea typeface="Calibri"/>
                <a:cs typeface="Calibri"/>
                <a:sym typeface="Calibri"/>
              </a:rPr>
            </a:br>
            <a:r>
              <a:rPr lang="en-US" sz="1350" b="1" i="0" u="none" strike="noStrike" cap="none">
                <a:solidFill>
                  <a:srgbClr val="475569"/>
                </a:solidFill>
                <a:latin typeface="Lato"/>
                <a:ea typeface="Lato"/>
                <a:cs typeface="Lato"/>
                <a:sym typeface="Lato"/>
              </a:rPr>
              <a:t>Impact:</a:t>
            </a:r>
            <a:r>
              <a:rPr lang="en-US" sz="1350" b="0" i="0" u="none" strike="noStrike" cap="none">
                <a:solidFill>
                  <a:srgbClr val="475569"/>
                </a:solidFill>
                <a:latin typeface="Lato"/>
                <a:ea typeface="Lato"/>
                <a:cs typeface="Lato"/>
                <a:sym typeface="Lato"/>
              </a:rPr>
              <a:t> Enable proactive maintenance, reduce costs, and improve operational safety.</a:t>
            </a:r>
            <a:endParaRPr/>
          </a:p>
        </p:txBody>
      </p:sp>
      <p:sp>
        <p:nvSpPr>
          <p:cNvPr id="98" name="Google Shape;98;p14"/>
          <p:cNvSpPr txBox="1"/>
          <p:nvPr/>
        </p:nvSpPr>
        <p:spPr>
          <a:xfrm>
            <a:off x="1343025" y="3634680"/>
            <a:ext cx="426720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Lost productivity and missed deadlines.</a:t>
            </a:r>
            <a:endParaRPr/>
          </a:p>
        </p:txBody>
      </p:sp>
      <p:sp>
        <p:nvSpPr>
          <p:cNvPr id="99" name="Google Shape;99;p14"/>
          <p:cNvSpPr txBox="1"/>
          <p:nvPr/>
        </p:nvSpPr>
        <p:spPr>
          <a:xfrm>
            <a:off x="1343025" y="4051845"/>
            <a:ext cx="426720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High costs for emergency repairs.</a:t>
            </a:r>
            <a:endParaRPr/>
          </a:p>
        </p:txBody>
      </p:sp>
      <p:sp>
        <p:nvSpPr>
          <p:cNvPr id="100" name="Google Shape;100;p14"/>
          <p:cNvSpPr txBox="1"/>
          <p:nvPr/>
        </p:nvSpPr>
        <p:spPr>
          <a:xfrm>
            <a:off x="1343025" y="4469010"/>
            <a:ext cx="426720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Wasted raw materials.</a:t>
            </a:r>
            <a:endParaRPr/>
          </a:p>
        </p:txBody>
      </p:sp>
      <p:sp>
        <p:nvSpPr>
          <p:cNvPr id="101" name="Google Shape;101;p14"/>
          <p:cNvSpPr txBox="1"/>
          <p:nvPr/>
        </p:nvSpPr>
        <p:spPr>
          <a:xfrm>
            <a:off x="1343025" y="4886176"/>
            <a:ext cx="426720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Potential safety hazards for operators.</a:t>
            </a:r>
            <a:endParaRPr/>
          </a:p>
        </p:txBody>
      </p:sp>
      <p:sp>
        <p:nvSpPr>
          <p:cNvPr id="102" name="Google Shape;102;p14"/>
          <p:cNvSpPr txBox="1"/>
          <p:nvPr/>
        </p:nvSpPr>
        <p:spPr>
          <a:xfrm>
            <a:off x="571500" y="571500"/>
            <a:ext cx="1162050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D9488"/>
                </a:solidFill>
                <a:latin typeface="Poppins"/>
                <a:ea typeface="Poppins"/>
                <a:cs typeface="Poppins"/>
                <a:sym typeface="Poppins"/>
              </a:rPr>
              <a:t>Business Problem &amp; Case Study</a:t>
            </a:r>
            <a:endParaRPr/>
          </a:p>
        </p:txBody>
      </p:sp>
      <p:pic>
        <p:nvPicPr>
          <p:cNvPr id="103" name="Google Shape;103;p14" descr="image.png"/>
          <p:cNvPicPr preferRelativeResize="0"/>
          <p:nvPr/>
        </p:nvPicPr>
        <p:blipFill rotWithShape="1">
          <a:blip r:embed="rId6">
            <a:alphaModFix/>
          </a:blip>
          <a:srcRect/>
          <a:stretch/>
        </p:blipFill>
        <p:spPr>
          <a:xfrm>
            <a:off x="1057275" y="3672780"/>
            <a:ext cx="133350" cy="152400"/>
          </a:xfrm>
          <a:prstGeom prst="rect">
            <a:avLst/>
          </a:prstGeom>
          <a:noFill/>
          <a:ln>
            <a:noFill/>
          </a:ln>
        </p:spPr>
      </p:pic>
      <p:pic>
        <p:nvPicPr>
          <p:cNvPr id="104" name="Google Shape;104;p14" descr="image.png"/>
          <p:cNvPicPr preferRelativeResize="0"/>
          <p:nvPr/>
        </p:nvPicPr>
        <p:blipFill rotWithShape="1">
          <a:blip r:embed="rId6">
            <a:alphaModFix/>
          </a:blip>
          <a:srcRect/>
          <a:stretch/>
        </p:blipFill>
        <p:spPr>
          <a:xfrm>
            <a:off x="1057275" y="4089945"/>
            <a:ext cx="133350" cy="152400"/>
          </a:xfrm>
          <a:prstGeom prst="rect">
            <a:avLst/>
          </a:prstGeom>
          <a:noFill/>
          <a:ln>
            <a:noFill/>
          </a:ln>
        </p:spPr>
      </p:pic>
      <p:pic>
        <p:nvPicPr>
          <p:cNvPr id="105" name="Google Shape;105;p14" descr="image.png"/>
          <p:cNvPicPr preferRelativeResize="0"/>
          <p:nvPr/>
        </p:nvPicPr>
        <p:blipFill rotWithShape="1">
          <a:blip r:embed="rId6">
            <a:alphaModFix/>
          </a:blip>
          <a:srcRect/>
          <a:stretch/>
        </p:blipFill>
        <p:spPr>
          <a:xfrm>
            <a:off x="1057275" y="4507110"/>
            <a:ext cx="133350" cy="152400"/>
          </a:xfrm>
          <a:prstGeom prst="rect">
            <a:avLst/>
          </a:prstGeom>
          <a:noFill/>
          <a:ln>
            <a:noFill/>
          </a:ln>
        </p:spPr>
      </p:pic>
      <p:pic>
        <p:nvPicPr>
          <p:cNvPr id="106" name="Google Shape;106;p14" descr="image.png"/>
          <p:cNvPicPr preferRelativeResize="0"/>
          <p:nvPr/>
        </p:nvPicPr>
        <p:blipFill rotWithShape="1">
          <a:blip r:embed="rId6">
            <a:alphaModFix/>
          </a:blip>
          <a:srcRect/>
          <a:stretch/>
        </p:blipFill>
        <p:spPr>
          <a:xfrm>
            <a:off x="1057275" y="4924276"/>
            <a:ext cx="133350" cy="152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0"/>
        <p:cNvGrpSpPr/>
        <p:nvPr/>
      </p:nvGrpSpPr>
      <p:grpSpPr>
        <a:xfrm>
          <a:off x="0" y="0"/>
          <a:ext cx="0" cy="0"/>
          <a:chOff x="0" y="0"/>
          <a:chExt cx="0" cy="0"/>
        </a:xfrm>
      </p:grpSpPr>
      <p:pic>
        <p:nvPicPr>
          <p:cNvPr id="111" name="Google Shape;111;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2" name="Google Shape;112;p15" descr="image.png"/>
          <p:cNvPicPr preferRelativeResize="0"/>
          <p:nvPr/>
        </p:nvPicPr>
        <p:blipFill rotWithShape="1">
          <a:blip r:embed="rId4">
            <a:alphaModFix/>
          </a:blip>
          <a:srcRect/>
          <a:stretch/>
        </p:blipFill>
        <p:spPr>
          <a:xfrm>
            <a:off x="571500" y="970791"/>
            <a:ext cx="5334000" cy="2912566"/>
          </a:xfrm>
          <a:prstGeom prst="rect">
            <a:avLst/>
          </a:prstGeom>
          <a:noFill/>
          <a:ln>
            <a:noFill/>
          </a:ln>
        </p:spPr>
      </p:pic>
      <p:pic>
        <p:nvPicPr>
          <p:cNvPr id="113" name="Google Shape;113;p15" descr="image.png"/>
          <p:cNvPicPr preferRelativeResize="0"/>
          <p:nvPr/>
        </p:nvPicPr>
        <p:blipFill rotWithShape="1">
          <a:blip r:embed="rId5">
            <a:alphaModFix/>
          </a:blip>
          <a:srcRect/>
          <a:stretch/>
        </p:blipFill>
        <p:spPr>
          <a:xfrm>
            <a:off x="5991225" y="1054591"/>
            <a:ext cx="5334000" cy="2912566"/>
          </a:xfrm>
          <a:prstGeom prst="rect">
            <a:avLst/>
          </a:prstGeom>
          <a:noFill/>
          <a:ln>
            <a:noFill/>
          </a:ln>
        </p:spPr>
      </p:pic>
      <p:sp>
        <p:nvSpPr>
          <p:cNvPr id="114" name="Google Shape;114;p15"/>
          <p:cNvSpPr txBox="1"/>
          <p:nvPr/>
        </p:nvSpPr>
        <p:spPr>
          <a:xfrm>
            <a:off x="866775" y="1448541"/>
            <a:ext cx="49806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B82F6"/>
                </a:solidFill>
                <a:latin typeface="Poppins"/>
                <a:ea typeface="Poppins"/>
                <a:cs typeface="Poppins"/>
                <a:sym typeface="Poppins"/>
              </a:rPr>
              <a:t>Key Findings from Boxplots</a:t>
            </a:r>
            <a:endParaRPr/>
          </a:p>
        </p:txBody>
      </p:sp>
      <p:sp>
        <p:nvSpPr>
          <p:cNvPr id="115" name="Google Shape;115;p15"/>
          <p:cNvSpPr txBox="1"/>
          <p:nvPr/>
        </p:nvSpPr>
        <p:spPr>
          <a:xfrm>
            <a:off x="866775" y="1908191"/>
            <a:ext cx="4743600" cy="54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Initial Exploratory Data Analysis (EDA) using boxplots revealed significant "outliers," particularly in sensor readings for:</a:t>
            </a:r>
            <a:endParaRPr/>
          </a:p>
        </p:txBody>
      </p:sp>
      <p:sp>
        <p:nvSpPr>
          <p:cNvPr id="116" name="Google Shape;116;p15"/>
          <p:cNvSpPr txBox="1"/>
          <p:nvPr/>
        </p:nvSpPr>
        <p:spPr>
          <a:xfrm>
            <a:off x="6225200" y="1371591"/>
            <a:ext cx="49806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B82F6"/>
                </a:solidFill>
                <a:latin typeface="Poppins"/>
                <a:ea typeface="Poppins"/>
                <a:cs typeface="Poppins"/>
                <a:sym typeface="Poppins"/>
              </a:rPr>
              <a:t>Strategic Decision: Retain Outliers</a:t>
            </a:r>
            <a:endParaRPr/>
          </a:p>
        </p:txBody>
      </p:sp>
      <p:sp>
        <p:nvSpPr>
          <p:cNvPr id="117" name="Google Shape;117;p15"/>
          <p:cNvSpPr txBox="1"/>
          <p:nvPr/>
        </p:nvSpPr>
        <p:spPr>
          <a:xfrm>
            <a:off x="6286500" y="1875666"/>
            <a:ext cx="4743600" cy="8727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These are not data errors to be removed. In the context of predictive maintenance, these extreme values are the most critical predictive signals.</a:t>
            </a:r>
            <a:endParaRPr/>
          </a:p>
        </p:txBody>
      </p:sp>
      <p:sp>
        <p:nvSpPr>
          <p:cNvPr id="118" name="Google Shape;118;p15"/>
          <p:cNvSpPr txBox="1"/>
          <p:nvPr/>
        </p:nvSpPr>
        <p:spPr>
          <a:xfrm>
            <a:off x="6343775" y="2929362"/>
            <a:ext cx="4743600" cy="8727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A sudden spike in torque or a high tool wear value is precisely what indicates an impending failure. Removing them would remove the very problem we are trying to predict.</a:t>
            </a:r>
            <a:endParaRPr/>
          </a:p>
        </p:txBody>
      </p:sp>
      <p:sp>
        <p:nvSpPr>
          <p:cNvPr id="119" name="Google Shape;119;p15"/>
          <p:cNvSpPr txBox="1"/>
          <p:nvPr/>
        </p:nvSpPr>
        <p:spPr>
          <a:xfrm>
            <a:off x="1343025" y="2648997"/>
            <a:ext cx="4267200" cy="2079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Torque [Nm]</a:t>
            </a:r>
            <a:endParaRPr/>
          </a:p>
        </p:txBody>
      </p:sp>
      <p:sp>
        <p:nvSpPr>
          <p:cNvPr id="120" name="Google Shape;120;p15"/>
          <p:cNvSpPr txBox="1"/>
          <p:nvPr/>
        </p:nvSpPr>
        <p:spPr>
          <a:xfrm>
            <a:off x="1343025" y="3012287"/>
            <a:ext cx="4267200" cy="2079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Tool Wear [min]</a:t>
            </a:r>
            <a:endParaRPr/>
          </a:p>
        </p:txBody>
      </p:sp>
      <p:sp>
        <p:nvSpPr>
          <p:cNvPr id="121" name="Google Shape;121;p15"/>
          <p:cNvSpPr txBox="1"/>
          <p:nvPr/>
        </p:nvSpPr>
        <p:spPr>
          <a:xfrm>
            <a:off x="1343025" y="3375552"/>
            <a:ext cx="4267200" cy="2079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Rotational Speed [rpm]</a:t>
            </a:r>
            <a:endParaRPr/>
          </a:p>
        </p:txBody>
      </p:sp>
      <p:sp>
        <p:nvSpPr>
          <p:cNvPr id="122" name="Google Shape;122;p15"/>
          <p:cNvSpPr txBox="1"/>
          <p:nvPr/>
        </p:nvSpPr>
        <p:spPr>
          <a:xfrm>
            <a:off x="571500" y="571500"/>
            <a:ext cx="1162050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D9488"/>
                </a:solidFill>
                <a:latin typeface="Poppins"/>
                <a:ea typeface="Poppins"/>
                <a:cs typeface="Poppins"/>
                <a:sym typeface="Poppins"/>
              </a:rPr>
              <a:t>Outlier Analysis</a:t>
            </a:r>
            <a:endParaRPr/>
          </a:p>
        </p:txBody>
      </p:sp>
      <p:pic>
        <p:nvPicPr>
          <p:cNvPr id="123" name="Google Shape;123;p15" descr="image.png"/>
          <p:cNvPicPr preferRelativeResize="0"/>
          <p:nvPr/>
        </p:nvPicPr>
        <p:blipFill rotWithShape="1">
          <a:blip r:embed="rId6">
            <a:alphaModFix/>
          </a:blip>
          <a:srcRect/>
          <a:stretch/>
        </p:blipFill>
        <p:spPr>
          <a:xfrm>
            <a:off x="974075" y="2991912"/>
            <a:ext cx="133350" cy="152400"/>
          </a:xfrm>
          <a:prstGeom prst="rect">
            <a:avLst/>
          </a:prstGeom>
          <a:noFill/>
          <a:ln>
            <a:noFill/>
          </a:ln>
        </p:spPr>
      </p:pic>
      <p:pic>
        <p:nvPicPr>
          <p:cNvPr id="124" name="Google Shape;124;p15" descr="image.png"/>
          <p:cNvPicPr preferRelativeResize="0"/>
          <p:nvPr/>
        </p:nvPicPr>
        <p:blipFill rotWithShape="1">
          <a:blip r:embed="rId6">
            <a:alphaModFix/>
          </a:blip>
          <a:srcRect/>
          <a:stretch/>
        </p:blipFill>
        <p:spPr>
          <a:xfrm>
            <a:off x="974075" y="3479527"/>
            <a:ext cx="133350" cy="152400"/>
          </a:xfrm>
          <a:prstGeom prst="rect">
            <a:avLst/>
          </a:prstGeom>
          <a:noFill/>
          <a:ln>
            <a:noFill/>
          </a:ln>
        </p:spPr>
      </p:pic>
      <p:pic>
        <p:nvPicPr>
          <p:cNvPr id="125" name="Google Shape;125;p15" descr="image.png"/>
          <p:cNvPicPr preferRelativeResize="0"/>
          <p:nvPr/>
        </p:nvPicPr>
        <p:blipFill rotWithShape="1">
          <a:blip r:embed="rId6">
            <a:alphaModFix/>
          </a:blip>
          <a:srcRect/>
          <a:stretch/>
        </p:blipFill>
        <p:spPr>
          <a:xfrm>
            <a:off x="974075" y="2676747"/>
            <a:ext cx="133350" cy="152400"/>
          </a:xfrm>
          <a:prstGeom prst="rect">
            <a:avLst/>
          </a:prstGeom>
          <a:noFill/>
          <a:ln>
            <a:noFill/>
          </a:ln>
        </p:spPr>
      </p:pic>
      <p:pic>
        <p:nvPicPr>
          <p:cNvPr id="126" name="Google Shape;126;p15"/>
          <p:cNvPicPr preferRelativeResize="0"/>
          <p:nvPr/>
        </p:nvPicPr>
        <p:blipFill>
          <a:blip r:embed="rId7">
            <a:alphaModFix/>
          </a:blip>
          <a:stretch>
            <a:fillRect/>
          </a:stretch>
        </p:blipFill>
        <p:spPr>
          <a:xfrm>
            <a:off x="739275" y="3892600"/>
            <a:ext cx="10585949" cy="28631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0"/>
        <p:cNvGrpSpPr/>
        <p:nvPr/>
      </p:nvGrpSpPr>
      <p:grpSpPr>
        <a:xfrm>
          <a:off x="0" y="0"/>
          <a:ext cx="0" cy="0"/>
          <a:chOff x="0" y="0"/>
          <a:chExt cx="0" cy="0"/>
        </a:xfrm>
      </p:grpSpPr>
      <p:pic>
        <p:nvPicPr>
          <p:cNvPr id="131" name="Google Shape;131;p16" descr="image.png"/>
          <p:cNvPicPr preferRelativeResize="0"/>
          <p:nvPr/>
        </p:nvPicPr>
        <p:blipFill rotWithShape="1">
          <a:blip r:embed="rId3">
            <a:alphaModFix/>
          </a:blip>
          <a:srcRect/>
          <a:stretch/>
        </p:blipFill>
        <p:spPr>
          <a:xfrm>
            <a:off x="445150" y="0"/>
            <a:ext cx="12192000" cy="6858000"/>
          </a:xfrm>
          <a:prstGeom prst="rect">
            <a:avLst/>
          </a:prstGeom>
          <a:noFill/>
          <a:ln>
            <a:noFill/>
          </a:ln>
        </p:spPr>
      </p:pic>
      <p:pic>
        <p:nvPicPr>
          <p:cNvPr id="132" name="Google Shape;132;p16" descr="image.png"/>
          <p:cNvPicPr preferRelativeResize="0"/>
          <p:nvPr/>
        </p:nvPicPr>
        <p:blipFill rotWithShape="1">
          <a:blip r:embed="rId4">
            <a:alphaModFix/>
          </a:blip>
          <a:srcRect/>
          <a:stretch/>
        </p:blipFill>
        <p:spPr>
          <a:xfrm>
            <a:off x="445150" y="630925"/>
            <a:ext cx="11746850" cy="4368150"/>
          </a:xfrm>
          <a:prstGeom prst="rect">
            <a:avLst/>
          </a:prstGeom>
          <a:noFill/>
          <a:ln>
            <a:noFill/>
          </a:ln>
        </p:spPr>
      </p:pic>
      <p:sp>
        <p:nvSpPr>
          <p:cNvPr id="133" name="Google Shape;133;p16"/>
          <p:cNvSpPr txBox="1"/>
          <p:nvPr/>
        </p:nvSpPr>
        <p:spPr>
          <a:xfrm>
            <a:off x="571500" y="571500"/>
            <a:ext cx="11620500" cy="5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D9488"/>
                </a:solidFill>
                <a:latin typeface="Poppins"/>
                <a:ea typeface="Poppins"/>
                <a:cs typeface="Poppins"/>
                <a:sym typeface="Poppins"/>
              </a:rPr>
              <a:t>Dataset Overview </a:t>
            </a:r>
            <a:endParaRPr/>
          </a:p>
        </p:txBody>
      </p:sp>
      <p:pic>
        <p:nvPicPr>
          <p:cNvPr id="134" name="Google Shape;134;p16"/>
          <p:cNvPicPr preferRelativeResize="0"/>
          <p:nvPr/>
        </p:nvPicPr>
        <p:blipFill>
          <a:blip r:embed="rId5">
            <a:alphaModFix/>
          </a:blip>
          <a:stretch>
            <a:fillRect/>
          </a:stretch>
        </p:blipFill>
        <p:spPr>
          <a:xfrm>
            <a:off x="917575" y="4198500"/>
            <a:ext cx="11386424" cy="21198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7"/>
          <p:cNvSpPr txBox="1"/>
          <p:nvPr/>
        </p:nvSpPr>
        <p:spPr>
          <a:xfrm>
            <a:off x="240100" y="396975"/>
            <a:ext cx="10471200" cy="692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Font typeface="Arial"/>
              <a:buNone/>
            </a:pPr>
            <a:r>
              <a:rPr lang="en-US" sz="3300" b="1">
                <a:solidFill>
                  <a:srgbClr val="0D9488"/>
                </a:solidFill>
                <a:latin typeface="Poppins"/>
                <a:ea typeface="Poppins"/>
                <a:cs typeface="Poppins"/>
                <a:sym typeface="Poppins"/>
              </a:rPr>
              <a:t> Class Imbalance</a:t>
            </a:r>
            <a:endParaRPr>
              <a:solidFill>
                <a:schemeClr val="dk1"/>
              </a:solidFill>
            </a:endParaRPr>
          </a:p>
        </p:txBody>
      </p:sp>
      <p:pic>
        <p:nvPicPr>
          <p:cNvPr id="140" name="Google Shape;140;p17"/>
          <p:cNvPicPr preferRelativeResize="0"/>
          <p:nvPr/>
        </p:nvPicPr>
        <p:blipFill>
          <a:blip r:embed="rId3">
            <a:alphaModFix/>
          </a:blip>
          <a:stretch>
            <a:fillRect/>
          </a:stretch>
        </p:blipFill>
        <p:spPr>
          <a:xfrm>
            <a:off x="152400" y="1242075"/>
            <a:ext cx="11153201" cy="5463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4"/>
        <p:cNvGrpSpPr/>
        <p:nvPr/>
      </p:nvGrpSpPr>
      <p:grpSpPr>
        <a:xfrm>
          <a:off x="0" y="0"/>
          <a:ext cx="0" cy="0"/>
          <a:chOff x="0" y="0"/>
          <a:chExt cx="0" cy="0"/>
        </a:xfrm>
      </p:grpSpPr>
      <p:pic>
        <p:nvPicPr>
          <p:cNvPr id="145" name="Google Shape;145;p18" descr="image.png"/>
          <p:cNvPicPr preferRelativeResize="0"/>
          <p:nvPr/>
        </p:nvPicPr>
        <p:blipFill rotWithShape="1">
          <a:blip r:embed="rId3">
            <a:alphaModFix/>
          </a:blip>
          <a:srcRect/>
          <a:stretch/>
        </p:blipFill>
        <p:spPr>
          <a:xfrm>
            <a:off x="0" y="171613"/>
            <a:ext cx="12192000" cy="6858000"/>
          </a:xfrm>
          <a:prstGeom prst="rect">
            <a:avLst/>
          </a:prstGeom>
          <a:noFill/>
          <a:ln>
            <a:noFill/>
          </a:ln>
        </p:spPr>
      </p:pic>
      <p:pic>
        <p:nvPicPr>
          <p:cNvPr id="146" name="Google Shape;146;p18" descr="image.png"/>
          <p:cNvPicPr preferRelativeResize="0"/>
          <p:nvPr/>
        </p:nvPicPr>
        <p:blipFill rotWithShape="1">
          <a:blip r:embed="rId4">
            <a:alphaModFix/>
          </a:blip>
          <a:srcRect/>
          <a:stretch/>
        </p:blipFill>
        <p:spPr>
          <a:xfrm>
            <a:off x="6286500" y="889843"/>
            <a:ext cx="5334000" cy="3810000"/>
          </a:xfrm>
          <a:prstGeom prst="rect">
            <a:avLst/>
          </a:prstGeom>
          <a:noFill/>
          <a:ln>
            <a:noFill/>
          </a:ln>
        </p:spPr>
      </p:pic>
      <p:sp>
        <p:nvSpPr>
          <p:cNvPr id="147" name="Google Shape;147;p18"/>
          <p:cNvSpPr txBox="1"/>
          <p:nvPr/>
        </p:nvSpPr>
        <p:spPr>
          <a:xfrm>
            <a:off x="571500" y="889843"/>
            <a:ext cx="56007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a:p>
        </p:txBody>
      </p:sp>
      <p:sp>
        <p:nvSpPr>
          <p:cNvPr id="148" name="Google Shape;148;p18"/>
          <p:cNvSpPr txBox="1"/>
          <p:nvPr/>
        </p:nvSpPr>
        <p:spPr>
          <a:xfrm>
            <a:off x="571500" y="1318468"/>
            <a:ext cx="5334000" cy="12129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A heatmap was generated to visualize the relationships between all numerical features. This helped identify multicollinearity and, more importantly, data leakage.</a:t>
            </a:r>
            <a:br>
              <a:rPr lang="en-US" sz="1350" b="0" i="0" u="none" strike="noStrike" cap="none">
                <a:solidFill>
                  <a:srgbClr val="475569"/>
                </a:solidFill>
                <a:latin typeface="Lato"/>
                <a:ea typeface="Lato"/>
                <a:cs typeface="Lato"/>
                <a:sym typeface="Lato"/>
              </a:rPr>
            </a:br>
            <a:endParaRPr/>
          </a:p>
        </p:txBody>
      </p:sp>
      <p:sp>
        <p:nvSpPr>
          <p:cNvPr id="149" name="Google Shape;149;p18"/>
          <p:cNvSpPr txBox="1"/>
          <p:nvPr/>
        </p:nvSpPr>
        <p:spPr>
          <a:xfrm>
            <a:off x="571500" y="2141339"/>
            <a:ext cx="5600700"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D9488"/>
                </a:solidFill>
                <a:latin typeface="Poppins"/>
                <a:ea typeface="Poppins"/>
                <a:cs typeface="Poppins"/>
                <a:sym typeface="Poppins"/>
              </a:rPr>
              <a:t>Identifying Data Leakage</a:t>
            </a:r>
            <a:endParaRPr/>
          </a:p>
        </p:txBody>
      </p:sp>
      <p:sp>
        <p:nvSpPr>
          <p:cNvPr id="150" name="Google Shape;150;p18"/>
          <p:cNvSpPr txBox="1"/>
          <p:nvPr/>
        </p:nvSpPr>
        <p:spPr>
          <a:xfrm>
            <a:off x="571500" y="2569964"/>
            <a:ext cx="533400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The original dataset included five binary flags:</a:t>
            </a:r>
            <a:endParaRPr/>
          </a:p>
        </p:txBody>
      </p:sp>
      <p:sp>
        <p:nvSpPr>
          <p:cNvPr id="151" name="Google Shape;151;p18"/>
          <p:cNvSpPr txBox="1"/>
          <p:nvPr/>
        </p:nvSpPr>
        <p:spPr>
          <a:xfrm>
            <a:off x="571500" y="4930080"/>
            <a:ext cx="5334000" cy="54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These flags are </a:t>
            </a:r>
            <a:r>
              <a:rPr lang="en-US" sz="1350" b="1" i="0" u="none" strike="noStrike" cap="none">
                <a:solidFill>
                  <a:srgbClr val="475569"/>
                </a:solidFill>
                <a:latin typeface="Lato"/>
                <a:ea typeface="Lato"/>
                <a:cs typeface="Lato"/>
                <a:sym typeface="Lato"/>
              </a:rPr>
              <a:t>post-failure indicators</a:t>
            </a:r>
            <a:r>
              <a:rPr lang="en-US" sz="1350" b="0" i="0" u="none" strike="noStrike" cap="none">
                <a:solidFill>
                  <a:srgbClr val="475569"/>
                </a:solidFill>
                <a:latin typeface="Lato"/>
                <a:ea typeface="Lato"/>
                <a:cs typeface="Lato"/>
                <a:sym typeface="Lato"/>
              </a:rPr>
              <a:t>, not predictors. They are recorded  a failure is identified.</a:t>
            </a:r>
            <a:endParaRPr/>
          </a:p>
        </p:txBody>
      </p:sp>
      <p:sp>
        <p:nvSpPr>
          <p:cNvPr id="152" name="Google Shape;152;p18"/>
          <p:cNvSpPr txBox="1"/>
          <p:nvPr/>
        </p:nvSpPr>
        <p:spPr>
          <a:xfrm>
            <a:off x="571500" y="5478660"/>
            <a:ext cx="5600700"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D9488"/>
                </a:solidFill>
                <a:latin typeface="Poppins"/>
                <a:ea typeface="Poppins"/>
                <a:cs typeface="Poppins"/>
                <a:sym typeface="Poppins"/>
              </a:rPr>
              <a:t>Decision: Remove Leakage</a:t>
            </a:r>
            <a:endParaRPr/>
          </a:p>
        </p:txBody>
      </p:sp>
      <p:sp>
        <p:nvSpPr>
          <p:cNvPr id="153" name="Google Shape;153;p18"/>
          <p:cNvSpPr txBox="1"/>
          <p:nvPr/>
        </p:nvSpPr>
        <p:spPr>
          <a:xfrm>
            <a:off x="571500" y="5907285"/>
            <a:ext cx="5334000" cy="8727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All five failure-type flags were removed from the feature set to build a true </a:t>
            </a:r>
            <a:r>
              <a:rPr lang="en-US" sz="1350">
                <a:solidFill>
                  <a:srgbClr val="475569"/>
                </a:solidFill>
                <a:latin typeface="Lato"/>
                <a:ea typeface="Lato"/>
                <a:cs typeface="Lato"/>
                <a:sym typeface="Lato"/>
              </a:rPr>
              <a:t> </a:t>
            </a:r>
            <a:r>
              <a:rPr lang="en-US" sz="1350" b="0" i="0" u="none" strike="noStrike" cap="none">
                <a:solidFill>
                  <a:srgbClr val="475569"/>
                </a:solidFill>
                <a:latin typeface="Lato"/>
                <a:ea typeface="Lato"/>
                <a:cs typeface="Lato"/>
                <a:sym typeface="Lato"/>
              </a:rPr>
              <a:t>predictive model that relies only on sensor data available </a:t>
            </a:r>
            <a:r>
              <a:rPr lang="en-US" sz="1350">
                <a:solidFill>
                  <a:srgbClr val="475569"/>
                </a:solidFill>
                <a:latin typeface="Lato"/>
                <a:ea typeface="Lato"/>
                <a:cs typeface="Lato"/>
                <a:sym typeface="Lato"/>
              </a:rPr>
              <a:t> </a:t>
            </a:r>
            <a:r>
              <a:rPr lang="en-US" sz="1350" b="0" i="0" u="none" strike="noStrike" cap="none">
                <a:solidFill>
                  <a:srgbClr val="475569"/>
                </a:solidFill>
                <a:latin typeface="Lato"/>
                <a:ea typeface="Lato"/>
                <a:cs typeface="Lato"/>
                <a:sym typeface="Lato"/>
              </a:rPr>
              <a:t>before an event.</a:t>
            </a:r>
            <a:endParaRPr/>
          </a:p>
        </p:txBody>
      </p:sp>
      <p:sp>
        <p:nvSpPr>
          <p:cNvPr id="154" name="Google Shape;154;p18"/>
          <p:cNvSpPr txBox="1"/>
          <p:nvPr/>
        </p:nvSpPr>
        <p:spPr>
          <a:xfrm>
            <a:off x="1047750" y="2844254"/>
            <a:ext cx="485775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Tool Wear Failure (TWF)</a:t>
            </a:r>
            <a:endParaRPr/>
          </a:p>
        </p:txBody>
      </p:sp>
      <p:sp>
        <p:nvSpPr>
          <p:cNvPr id="155" name="Google Shape;155;p18"/>
          <p:cNvSpPr txBox="1"/>
          <p:nvPr/>
        </p:nvSpPr>
        <p:spPr>
          <a:xfrm>
            <a:off x="1047750" y="3261419"/>
            <a:ext cx="485775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Heat Dissipation Failure (HDF)</a:t>
            </a:r>
            <a:endParaRPr/>
          </a:p>
        </p:txBody>
      </p:sp>
      <p:sp>
        <p:nvSpPr>
          <p:cNvPr id="156" name="Google Shape;156;p18"/>
          <p:cNvSpPr txBox="1"/>
          <p:nvPr/>
        </p:nvSpPr>
        <p:spPr>
          <a:xfrm>
            <a:off x="1047750" y="3678584"/>
            <a:ext cx="485775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Power Failure (PWF)</a:t>
            </a:r>
            <a:endParaRPr/>
          </a:p>
        </p:txBody>
      </p:sp>
      <p:sp>
        <p:nvSpPr>
          <p:cNvPr id="157" name="Google Shape;157;p18"/>
          <p:cNvSpPr txBox="1"/>
          <p:nvPr/>
        </p:nvSpPr>
        <p:spPr>
          <a:xfrm>
            <a:off x="1047750" y="4095750"/>
            <a:ext cx="485775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Overstrain Failure (OSF)</a:t>
            </a:r>
            <a:endParaRPr/>
          </a:p>
        </p:txBody>
      </p:sp>
      <p:sp>
        <p:nvSpPr>
          <p:cNvPr id="158" name="Google Shape;158;p18"/>
          <p:cNvSpPr txBox="1"/>
          <p:nvPr/>
        </p:nvSpPr>
        <p:spPr>
          <a:xfrm>
            <a:off x="1047750" y="4512915"/>
            <a:ext cx="485775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Random Failure (RNF)</a:t>
            </a:r>
            <a:endParaRPr/>
          </a:p>
        </p:txBody>
      </p:sp>
      <p:sp>
        <p:nvSpPr>
          <p:cNvPr id="159" name="Google Shape;159;p18"/>
          <p:cNvSpPr txBox="1"/>
          <p:nvPr/>
        </p:nvSpPr>
        <p:spPr>
          <a:xfrm>
            <a:off x="133125" y="566575"/>
            <a:ext cx="9734400" cy="5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D9488"/>
                </a:solidFill>
                <a:latin typeface="Poppins"/>
                <a:ea typeface="Poppins"/>
                <a:cs typeface="Poppins"/>
                <a:sym typeface="Poppins"/>
              </a:rPr>
              <a:t>Correlation &amp; Feature Selection</a:t>
            </a:r>
            <a:endParaRPr/>
          </a:p>
        </p:txBody>
      </p:sp>
      <p:pic>
        <p:nvPicPr>
          <p:cNvPr id="160" name="Google Shape;160;p18" descr="image.png"/>
          <p:cNvPicPr preferRelativeResize="0"/>
          <p:nvPr/>
        </p:nvPicPr>
        <p:blipFill rotWithShape="1">
          <a:blip r:embed="rId5">
            <a:alphaModFix/>
          </a:blip>
          <a:srcRect/>
          <a:stretch/>
        </p:blipFill>
        <p:spPr>
          <a:xfrm>
            <a:off x="762000" y="2882354"/>
            <a:ext cx="133350" cy="152400"/>
          </a:xfrm>
          <a:prstGeom prst="rect">
            <a:avLst/>
          </a:prstGeom>
          <a:noFill/>
          <a:ln>
            <a:noFill/>
          </a:ln>
        </p:spPr>
      </p:pic>
      <p:pic>
        <p:nvPicPr>
          <p:cNvPr id="161" name="Google Shape;161;p18" descr="image.png"/>
          <p:cNvPicPr preferRelativeResize="0"/>
          <p:nvPr/>
        </p:nvPicPr>
        <p:blipFill rotWithShape="1">
          <a:blip r:embed="rId5">
            <a:alphaModFix/>
          </a:blip>
          <a:srcRect/>
          <a:stretch/>
        </p:blipFill>
        <p:spPr>
          <a:xfrm>
            <a:off x="762000" y="3299519"/>
            <a:ext cx="133350" cy="152400"/>
          </a:xfrm>
          <a:prstGeom prst="rect">
            <a:avLst/>
          </a:prstGeom>
          <a:noFill/>
          <a:ln>
            <a:noFill/>
          </a:ln>
        </p:spPr>
      </p:pic>
      <p:pic>
        <p:nvPicPr>
          <p:cNvPr id="162" name="Google Shape;162;p18" descr="image.png"/>
          <p:cNvPicPr preferRelativeResize="0"/>
          <p:nvPr/>
        </p:nvPicPr>
        <p:blipFill rotWithShape="1">
          <a:blip r:embed="rId5">
            <a:alphaModFix/>
          </a:blip>
          <a:srcRect/>
          <a:stretch/>
        </p:blipFill>
        <p:spPr>
          <a:xfrm>
            <a:off x="762000" y="3716684"/>
            <a:ext cx="133350" cy="152400"/>
          </a:xfrm>
          <a:prstGeom prst="rect">
            <a:avLst/>
          </a:prstGeom>
          <a:noFill/>
          <a:ln>
            <a:noFill/>
          </a:ln>
        </p:spPr>
      </p:pic>
      <p:pic>
        <p:nvPicPr>
          <p:cNvPr id="163" name="Google Shape;163;p18" descr="image.png"/>
          <p:cNvPicPr preferRelativeResize="0"/>
          <p:nvPr/>
        </p:nvPicPr>
        <p:blipFill rotWithShape="1">
          <a:blip r:embed="rId5">
            <a:alphaModFix/>
          </a:blip>
          <a:srcRect/>
          <a:stretch/>
        </p:blipFill>
        <p:spPr>
          <a:xfrm>
            <a:off x="762000" y="4133850"/>
            <a:ext cx="133350" cy="152400"/>
          </a:xfrm>
          <a:prstGeom prst="rect">
            <a:avLst/>
          </a:prstGeom>
          <a:noFill/>
          <a:ln>
            <a:noFill/>
          </a:ln>
        </p:spPr>
      </p:pic>
      <p:pic>
        <p:nvPicPr>
          <p:cNvPr id="164" name="Google Shape;164;p18" descr="image.png"/>
          <p:cNvPicPr preferRelativeResize="0"/>
          <p:nvPr/>
        </p:nvPicPr>
        <p:blipFill rotWithShape="1">
          <a:blip r:embed="rId5">
            <a:alphaModFix/>
          </a:blip>
          <a:srcRect/>
          <a:stretch/>
        </p:blipFill>
        <p:spPr>
          <a:xfrm>
            <a:off x="762000" y="4551015"/>
            <a:ext cx="133350" cy="152400"/>
          </a:xfrm>
          <a:prstGeom prst="rect">
            <a:avLst/>
          </a:prstGeom>
          <a:noFill/>
          <a:ln>
            <a:noFill/>
          </a:ln>
        </p:spPr>
      </p:pic>
      <p:pic>
        <p:nvPicPr>
          <p:cNvPr id="165" name="Google Shape;165;p18"/>
          <p:cNvPicPr preferRelativeResize="0"/>
          <p:nvPr/>
        </p:nvPicPr>
        <p:blipFill>
          <a:blip r:embed="rId6">
            <a:alphaModFix/>
          </a:blip>
          <a:stretch>
            <a:fillRect/>
          </a:stretch>
        </p:blipFill>
        <p:spPr>
          <a:xfrm>
            <a:off x="5905500" y="1279238"/>
            <a:ext cx="6096000" cy="4238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9"/>
        <p:cNvGrpSpPr/>
        <p:nvPr/>
      </p:nvGrpSpPr>
      <p:grpSpPr>
        <a:xfrm>
          <a:off x="0" y="0"/>
          <a:ext cx="0" cy="0"/>
          <a:chOff x="0" y="0"/>
          <a:chExt cx="0" cy="0"/>
        </a:xfrm>
      </p:grpSpPr>
      <p:pic>
        <p:nvPicPr>
          <p:cNvPr id="170" name="Google Shape;170;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1" name="Google Shape;171;p19" descr="image.png"/>
          <p:cNvPicPr preferRelativeResize="0"/>
          <p:nvPr/>
        </p:nvPicPr>
        <p:blipFill rotWithShape="1">
          <a:blip r:embed="rId4">
            <a:alphaModFix/>
          </a:blip>
          <a:srcRect/>
          <a:stretch/>
        </p:blipFill>
        <p:spPr>
          <a:xfrm>
            <a:off x="571500" y="2164109"/>
            <a:ext cx="5334000" cy="3291631"/>
          </a:xfrm>
          <a:prstGeom prst="rect">
            <a:avLst/>
          </a:prstGeom>
          <a:noFill/>
          <a:ln>
            <a:noFill/>
          </a:ln>
        </p:spPr>
      </p:pic>
      <p:pic>
        <p:nvPicPr>
          <p:cNvPr id="172" name="Google Shape;172;p19" descr="image.png"/>
          <p:cNvPicPr preferRelativeResize="0"/>
          <p:nvPr/>
        </p:nvPicPr>
        <p:blipFill rotWithShape="1">
          <a:blip r:embed="rId5">
            <a:alphaModFix/>
          </a:blip>
          <a:srcRect/>
          <a:stretch/>
        </p:blipFill>
        <p:spPr>
          <a:xfrm>
            <a:off x="6286500" y="2164109"/>
            <a:ext cx="5334000" cy="3291631"/>
          </a:xfrm>
          <a:prstGeom prst="rect">
            <a:avLst/>
          </a:prstGeom>
          <a:noFill/>
          <a:ln>
            <a:noFill/>
          </a:ln>
        </p:spPr>
      </p:pic>
      <p:sp>
        <p:nvSpPr>
          <p:cNvPr id="173" name="Google Shape;173;p19"/>
          <p:cNvSpPr txBox="1"/>
          <p:nvPr/>
        </p:nvSpPr>
        <p:spPr>
          <a:xfrm>
            <a:off x="866775" y="2459384"/>
            <a:ext cx="4980622"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B82F6"/>
                </a:solidFill>
                <a:latin typeface="Poppins"/>
                <a:ea typeface="Poppins"/>
                <a:cs typeface="Poppins"/>
                <a:sym typeface="Poppins"/>
              </a:rPr>
              <a:t>Why Not a Random Split?</a:t>
            </a:r>
            <a:endParaRPr/>
          </a:p>
        </p:txBody>
      </p:sp>
      <p:sp>
        <p:nvSpPr>
          <p:cNvPr id="174" name="Google Shape;174;p19"/>
          <p:cNvSpPr txBox="1"/>
          <p:nvPr/>
        </p:nvSpPr>
        <p:spPr>
          <a:xfrm>
            <a:off x="866775" y="2954684"/>
            <a:ext cx="474345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A standard `train_test_split` (randomly shuffling data) is incorrect for this problem. This data is a </a:t>
            </a:r>
            <a:r>
              <a:rPr lang="en-US" sz="1350" b="1" i="0" u="none" strike="noStrike" cap="none">
                <a:solidFill>
                  <a:srgbClr val="475569"/>
                </a:solidFill>
                <a:latin typeface="Lato"/>
                <a:ea typeface="Lato"/>
                <a:cs typeface="Lato"/>
                <a:sym typeface="Lato"/>
              </a:rPr>
              <a:t>time-series log</a:t>
            </a:r>
            <a:r>
              <a:rPr lang="en-US" sz="1350" b="0" i="0" u="none" strike="noStrike" cap="none">
                <a:solidFill>
                  <a:srgbClr val="475569"/>
                </a:solidFill>
                <a:latin typeface="Lato"/>
                <a:ea typeface="Lato"/>
                <a:cs typeface="Lato"/>
                <a:sym typeface="Lato"/>
              </a:rPr>
              <a:t>.</a:t>
            </a:r>
            <a:endParaRPr/>
          </a:p>
        </p:txBody>
      </p:sp>
      <p:sp>
        <p:nvSpPr>
          <p:cNvPr id="175" name="Google Shape;175;p19"/>
          <p:cNvSpPr txBox="1"/>
          <p:nvPr/>
        </p:nvSpPr>
        <p:spPr>
          <a:xfrm>
            <a:off x="866775" y="3503265"/>
            <a:ext cx="4743450" cy="1097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Random shuffling would cause severe </a:t>
            </a:r>
            <a:r>
              <a:rPr lang="en-US" sz="1350" b="1" i="0" u="none" strike="noStrike" cap="none">
                <a:solidFill>
                  <a:srgbClr val="475569"/>
                </a:solidFill>
                <a:latin typeface="Lato"/>
                <a:ea typeface="Lato"/>
                <a:cs typeface="Lato"/>
                <a:sym typeface="Lato"/>
              </a:rPr>
              <a:t>data leakage</a:t>
            </a:r>
            <a:r>
              <a:rPr lang="en-US" sz="1350" b="0" i="0" u="none" strike="noStrike" cap="none">
                <a:solidFill>
                  <a:srgbClr val="475569"/>
                </a:solidFill>
                <a:latin typeface="Lato"/>
                <a:ea typeface="Lato"/>
                <a:cs typeface="Lato"/>
                <a:sym typeface="Lato"/>
              </a:rPr>
              <a:t>, where the model is "predicting the past" using data from the future. This results in an artificially high, unrealistic performance score that would fail in production.</a:t>
            </a:r>
            <a:endParaRPr/>
          </a:p>
        </p:txBody>
      </p:sp>
      <p:sp>
        <p:nvSpPr>
          <p:cNvPr id="176" name="Google Shape;176;p19"/>
          <p:cNvSpPr txBox="1"/>
          <p:nvPr/>
        </p:nvSpPr>
        <p:spPr>
          <a:xfrm>
            <a:off x="6581775" y="2459384"/>
            <a:ext cx="49806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B82F6"/>
                </a:solidFill>
                <a:latin typeface="Poppins"/>
                <a:ea typeface="Poppins"/>
                <a:cs typeface="Poppins"/>
                <a:sym typeface="Poppins"/>
              </a:rPr>
              <a:t>Our Approach: </a:t>
            </a:r>
            <a:r>
              <a:rPr lang="en-US" sz="2100" b="1">
                <a:solidFill>
                  <a:srgbClr val="3B82F6"/>
                </a:solidFill>
                <a:latin typeface="Poppins"/>
                <a:ea typeface="Poppins"/>
                <a:cs typeface="Poppins"/>
                <a:sym typeface="Poppins"/>
              </a:rPr>
              <a:t>Time- Series </a:t>
            </a:r>
            <a:r>
              <a:rPr lang="en-US" sz="2100" b="1" i="0" u="none" strike="noStrike" cap="none">
                <a:solidFill>
                  <a:srgbClr val="3B82F6"/>
                </a:solidFill>
                <a:latin typeface="Poppins"/>
                <a:ea typeface="Poppins"/>
                <a:cs typeface="Poppins"/>
                <a:sym typeface="Poppins"/>
              </a:rPr>
              <a:t>Split</a:t>
            </a:r>
            <a:endParaRPr/>
          </a:p>
        </p:txBody>
      </p:sp>
      <p:sp>
        <p:nvSpPr>
          <p:cNvPr id="177" name="Google Shape;177;p19"/>
          <p:cNvSpPr txBox="1"/>
          <p:nvPr/>
        </p:nvSpPr>
        <p:spPr>
          <a:xfrm>
            <a:off x="6581775" y="2954684"/>
            <a:ext cx="474345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We must respect the chronological order of the data. A </a:t>
            </a:r>
            <a:r>
              <a:rPr lang="en-US" sz="1350" b="1" i="0" u="none" strike="noStrike" cap="none">
                <a:solidFill>
                  <a:srgbClr val="475569"/>
                </a:solidFill>
                <a:latin typeface="Lato"/>
                <a:ea typeface="Lato"/>
                <a:cs typeface="Lato"/>
                <a:sym typeface="Lato"/>
              </a:rPr>
              <a:t>70/30 time-ordered split</a:t>
            </a:r>
            <a:r>
              <a:rPr lang="en-US" sz="1350" b="0" i="0" u="none" strike="noStrike" cap="none">
                <a:solidFill>
                  <a:srgbClr val="475569"/>
                </a:solidFill>
                <a:latin typeface="Lato"/>
                <a:ea typeface="Lato"/>
                <a:cs typeface="Lato"/>
                <a:sym typeface="Lato"/>
              </a:rPr>
              <a:t> was used:</a:t>
            </a:r>
            <a:endParaRPr/>
          </a:p>
        </p:txBody>
      </p:sp>
      <p:sp>
        <p:nvSpPr>
          <p:cNvPr id="178" name="Google Shape;178;p19"/>
          <p:cNvSpPr txBox="1"/>
          <p:nvPr/>
        </p:nvSpPr>
        <p:spPr>
          <a:xfrm>
            <a:off x="6581775" y="4611885"/>
            <a:ext cx="4743600" cy="54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This method ensures our model is tested on truly </a:t>
            </a:r>
            <a:r>
              <a:rPr lang="en-US" sz="1350">
                <a:solidFill>
                  <a:srgbClr val="475569"/>
                </a:solidFill>
                <a:latin typeface="Lato"/>
                <a:ea typeface="Lato"/>
                <a:cs typeface="Lato"/>
                <a:sym typeface="Lato"/>
              </a:rPr>
              <a:t> </a:t>
            </a:r>
            <a:r>
              <a:rPr lang="en-US" sz="1350" b="0" i="0" u="none" strike="noStrike" cap="none">
                <a:solidFill>
                  <a:srgbClr val="475569"/>
                </a:solidFill>
                <a:latin typeface="Lato"/>
                <a:ea typeface="Lato"/>
                <a:cs typeface="Lato"/>
                <a:sym typeface="Lato"/>
              </a:rPr>
              <a:t>unseen</a:t>
            </a:r>
            <a:r>
              <a:rPr lang="en-US" sz="1350">
                <a:solidFill>
                  <a:srgbClr val="475569"/>
                </a:solidFill>
                <a:latin typeface="Lato"/>
                <a:ea typeface="Lato"/>
                <a:cs typeface="Lato"/>
                <a:sym typeface="Lato"/>
              </a:rPr>
              <a:t> </a:t>
            </a:r>
            <a:r>
              <a:rPr lang="en-US" sz="1350" b="0" i="0" u="none" strike="noStrike" cap="none">
                <a:solidFill>
                  <a:srgbClr val="475569"/>
                </a:solidFill>
                <a:latin typeface="Lato"/>
                <a:ea typeface="Lato"/>
                <a:cs typeface="Lato"/>
                <a:sym typeface="Lato"/>
              </a:rPr>
              <a:t>future data, just as it would be in a real-world deployment.</a:t>
            </a:r>
            <a:endParaRPr/>
          </a:p>
        </p:txBody>
      </p:sp>
      <p:sp>
        <p:nvSpPr>
          <p:cNvPr id="179" name="Google Shape;179;p19"/>
          <p:cNvSpPr txBox="1"/>
          <p:nvPr/>
        </p:nvSpPr>
        <p:spPr>
          <a:xfrm>
            <a:off x="7058025" y="3503265"/>
            <a:ext cx="426720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475569"/>
                </a:solidFill>
                <a:latin typeface="Lato"/>
                <a:ea typeface="Lato"/>
                <a:cs typeface="Lato"/>
                <a:sym typeface="Lato"/>
              </a:rPr>
              <a:t>Training Set:</a:t>
            </a:r>
            <a:r>
              <a:rPr lang="en-US" sz="1350" b="0" i="0" u="none" strike="noStrike" cap="none">
                <a:solidFill>
                  <a:srgbClr val="475569"/>
                </a:solidFill>
                <a:latin typeface="Lato"/>
                <a:ea typeface="Lato"/>
                <a:cs typeface="Lato"/>
                <a:sym typeface="Lato"/>
              </a:rPr>
              <a:t> The first 70% of the data (Rows 1 - 7,000)</a:t>
            </a:r>
            <a:endParaRPr/>
          </a:p>
        </p:txBody>
      </p:sp>
      <p:sp>
        <p:nvSpPr>
          <p:cNvPr id="180" name="Google Shape;180;p19"/>
          <p:cNvSpPr txBox="1"/>
          <p:nvPr/>
        </p:nvSpPr>
        <p:spPr>
          <a:xfrm>
            <a:off x="7058025" y="3920430"/>
            <a:ext cx="42672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475569"/>
                </a:solidFill>
                <a:latin typeface="Lato"/>
                <a:ea typeface="Lato"/>
                <a:cs typeface="Lato"/>
                <a:sym typeface="Lato"/>
              </a:rPr>
              <a:t>Testing Set:</a:t>
            </a:r>
            <a:r>
              <a:rPr lang="en-US" sz="1350" b="0" i="0" u="none" strike="noStrike" cap="none">
                <a:solidFill>
                  <a:srgbClr val="475569"/>
                </a:solidFill>
                <a:latin typeface="Lato"/>
                <a:ea typeface="Lato"/>
                <a:cs typeface="Lato"/>
                <a:sym typeface="Lato"/>
              </a:rPr>
              <a:t> The final 30% of the data (Rows 7,001 - 10,000)</a:t>
            </a:r>
            <a:endParaRPr/>
          </a:p>
        </p:txBody>
      </p:sp>
      <p:sp>
        <p:nvSpPr>
          <p:cNvPr id="181" name="Google Shape;181;p19"/>
          <p:cNvSpPr txBox="1"/>
          <p:nvPr/>
        </p:nvSpPr>
        <p:spPr>
          <a:xfrm>
            <a:off x="571500" y="571500"/>
            <a:ext cx="1162050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D9488"/>
                </a:solidFill>
                <a:latin typeface="Poppins"/>
                <a:ea typeface="Poppins"/>
                <a:cs typeface="Poppins"/>
                <a:sym typeface="Poppins"/>
              </a:rPr>
              <a:t>Modeling Setup: The Time-Series Split</a:t>
            </a:r>
            <a:endParaRPr/>
          </a:p>
        </p:txBody>
      </p:sp>
      <p:pic>
        <p:nvPicPr>
          <p:cNvPr id="182" name="Google Shape;182;p19" descr="image.png"/>
          <p:cNvPicPr preferRelativeResize="0"/>
          <p:nvPr/>
        </p:nvPicPr>
        <p:blipFill rotWithShape="1">
          <a:blip r:embed="rId6">
            <a:alphaModFix/>
          </a:blip>
          <a:srcRect/>
          <a:stretch/>
        </p:blipFill>
        <p:spPr>
          <a:xfrm>
            <a:off x="6772275" y="3541365"/>
            <a:ext cx="133350" cy="152400"/>
          </a:xfrm>
          <a:prstGeom prst="rect">
            <a:avLst/>
          </a:prstGeom>
          <a:noFill/>
          <a:ln>
            <a:noFill/>
          </a:ln>
        </p:spPr>
      </p:pic>
      <p:pic>
        <p:nvPicPr>
          <p:cNvPr id="183" name="Google Shape;183;p19" descr="image.png"/>
          <p:cNvPicPr preferRelativeResize="0"/>
          <p:nvPr/>
        </p:nvPicPr>
        <p:blipFill rotWithShape="1">
          <a:blip r:embed="rId6">
            <a:alphaModFix/>
          </a:blip>
          <a:srcRect/>
          <a:stretch/>
        </p:blipFill>
        <p:spPr>
          <a:xfrm>
            <a:off x="6772275" y="3958530"/>
            <a:ext cx="133350" cy="152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7"/>
        <p:cNvGrpSpPr/>
        <p:nvPr/>
      </p:nvGrpSpPr>
      <p:grpSpPr>
        <a:xfrm>
          <a:off x="0" y="0"/>
          <a:ext cx="0" cy="0"/>
          <a:chOff x="0" y="0"/>
          <a:chExt cx="0" cy="0"/>
        </a:xfrm>
      </p:grpSpPr>
      <p:pic>
        <p:nvPicPr>
          <p:cNvPr id="188" name="Google Shape;188;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89" name="Google Shape;189;p20" descr="image.png"/>
          <p:cNvPicPr preferRelativeResize="0"/>
          <p:nvPr/>
        </p:nvPicPr>
        <p:blipFill rotWithShape="1">
          <a:blip r:embed="rId4">
            <a:alphaModFix/>
          </a:blip>
          <a:srcRect/>
          <a:stretch/>
        </p:blipFill>
        <p:spPr>
          <a:xfrm>
            <a:off x="571500" y="2950815"/>
            <a:ext cx="2619375" cy="2552700"/>
          </a:xfrm>
          <a:prstGeom prst="rect">
            <a:avLst/>
          </a:prstGeom>
          <a:noFill/>
          <a:ln>
            <a:noFill/>
          </a:ln>
        </p:spPr>
      </p:pic>
      <p:pic>
        <p:nvPicPr>
          <p:cNvPr id="190" name="Google Shape;190;p20" descr="image.png"/>
          <p:cNvPicPr preferRelativeResize="0"/>
          <p:nvPr/>
        </p:nvPicPr>
        <p:blipFill rotWithShape="1">
          <a:blip r:embed="rId5">
            <a:alphaModFix/>
          </a:blip>
          <a:srcRect/>
          <a:stretch/>
        </p:blipFill>
        <p:spPr>
          <a:xfrm>
            <a:off x="3381375" y="2950815"/>
            <a:ext cx="2619375" cy="2552700"/>
          </a:xfrm>
          <a:prstGeom prst="rect">
            <a:avLst/>
          </a:prstGeom>
          <a:noFill/>
          <a:ln>
            <a:noFill/>
          </a:ln>
        </p:spPr>
      </p:pic>
      <p:pic>
        <p:nvPicPr>
          <p:cNvPr id="191" name="Google Shape;191;p20" descr="image.png"/>
          <p:cNvPicPr preferRelativeResize="0"/>
          <p:nvPr/>
        </p:nvPicPr>
        <p:blipFill rotWithShape="1">
          <a:blip r:embed="rId6">
            <a:alphaModFix/>
          </a:blip>
          <a:srcRect/>
          <a:stretch/>
        </p:blipFill>
        <p:spPr>
          <a:xfrm>
            <a:off x="6191250" y="2950815"/>
            <a:ext cx="2619375" cy="2552700"/>
          </a:xfrm>
          <a:prstGeom prst="rect">
            <a:avLst/>
          </a:prstGeom>
          <a:noFill/>
          <a:ln>
            <a:noFill/>
          </a:ln>
        </p:spPr>
      </p:pic>
      <p:pic>
        <p:nvPicPr>
          <p:cNvPr id="192" name="Google Shape;192;p20" descr="image.png"/>
          <p:cNvPicPr preferRelativeResize="0"/>
          <p:nvPr/>
        </p:nvPicPr>
        <p:blipFill rotWithShape="1">
          <a:blip r:embed="rId5">
            <a:alphaModFix/>
          </a:blip>
          <a:srcRect/>
          <a:stretch/>
        </p:blipFill>
        <p:spPr>
          <a:xfrm>
            <a:off x="9001125" y="2950815"/>
            <a:ext cx="2619375" cy="2552700"/>
          </a:xfrm>
          <a:prstGeom prst="rect">
            <a:avLst/>
          </a:prstGeom>
          <a:noFill/>
          <a:ln>
            <a:noFill/>
          </a:ln>
        </p:spPr>
      </p:pic>
      <p:sp>
        <p:nvSpPr>
          <p:cNvPr id="193" name="Google Shape;193;p20"/>
          <p:cNvSpPr txBox="1"/>
          <p:nvPr/>
        </p:nvSpPr>
        <p:spPr>
          <a:xfrm>
            <a:off x="1809750" y="2116484"/>
            <a:ext cx="8572500" cy="5485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To provide more context to the models, we engineered new features from the raw sensor data and encoded categorical variables.</a:t>
            </a:r>
            <a:endParaRPr/>
          </a:p>
        </p:txBody>
      </p:sp>
      <p:sp>
        <p:nvSpPr>
          <p:cNvPr id="194" name="Google Shape;194;p20"/>
          <p:cNvSpPr txBox="1"/>
          <p:nvPr/>
        </p:nvSpPr>
        <p:spPr>
          <a:xfrm>
            <a:off x="819150" y="3712815"/>
            <a:ext cx="2230278"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Poppins"/>
                <a:ea typeface="Poppins"/>
                <a:cs typeface="Poppins"/>
                <a:sym typeface="Poppins"/>
              </a:rPr>
              <a:t>Power (kW)</a:t>
            </a:r>
            <a:endParaRPr/>
          </a:p>
        </p:txBody>
      </p:sp>
      <p:sp>
        <p:nvSpPr>
          <p:cNvPr id="195" name="Google Shape;195;p20"/>
          <p:cNvSpPr txBox="1"/>
          <p:nvPr/>
        </p:nvSpPr>
        <p:spPr>
          <a:xfrm>
            <a:off x="819150" y="4093815"/>
            <a:ext cx="2124075" cy="116205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00" b="0" i="0" u="none" strike="noStrike" cap="none">
                <a:solidFill>
                  <a:srgbClr val="475569"/>
                </a:solidFill>
                <a:latin typeface="Lato"/>
                <a:ea typeface="Lato"/>
                <a:cs typeface="Lato"/>
                <a:sym typeface="Lato"/>
              </a:rPr>
              <a:t>torque_nm * rotational_speed_rpm</a:t>
            </a:r>
            <a:br>
              <a:rPr lang="en-US" sz="1800" b="0" i="0" u="none" strike="noStrike" cap="none">
                <a:solidFill>
                  <a:schemeClr val="dk1"/>
                </a:solidFill>
                <a:latin typeface="Calibri"/>
                <a:ea typeface="Calibri"/>
                <a:cs typeface="Calibri"/>
                <a:sym typeface="Calibri"/>
              </a:rPr>
            </a:br>
            <a:r>
              <a:rPr lang="en-US" sz="1200" b="0" i="0" u="none" strike="noStrike" cap="none">
                <a:solidFill>
                  <a:srgbClr val="475569"/>
                </a:solidFill>
                <a:latin typeface="Lato"/>
                <a:ea typeface="Lato"/>
                <a:cs typeface="Lato"/>
                <a:sym typeface="Lato"/>
              </a:rPr>
              <a:t> Measures the actual power output, combining two key sensors.</a:t>
            </a:r>
            <a:endParaRPr/>
          </a:p>
        </p:txBody>
      </p:sp>
      <p:sp>
        <p:nvSpPr>
          <p:cNvPr id="196" name="Google Shape;196;p20"/>
          <p:cNvSpPr txBox="1"/>
          <p:nvPr/>
        </p:nvSpPr>
        <p:spPr>
          <a:xfrm>
            <a:off x="3629025" y="3712815"/>
            <a:ext cx="2230278"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Poppins"/>
                <a:ea typeface="Poppins"/>
                <a:cs typeface="Poppins"/>
                <a:sym typeface="Poppins"/>
              </a:rPr>
              <a:t>Temp Difference (K)</a:t>
            </a:r>
            <a:endParaRPr/>
          </a:p>
        </p:txBody>
      </p:sp>
      <p:sp>
        <p:nvSpPr>
          <p:cNvPr id="197" name="Google Shape;197;p20"/>
          <p:cNvSpPr txBox="1"/>
          <p:nvPr/>
        </p:nvSpPr>
        <p:spPr>
          <a:xfrm>
            <a:off x="3629025" y="4093815"/>
            <a:ext cx="2124075" cy="69532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00" b="0" i="0" u="none" strike="noStrike" cap="none">
                <a:solidFill>
                  <a:srgbClr val="475569"/>
                </a:solidFill>
                <a:latin typeface="Lato"/>
                <a:ea typeface="Lato"/>
                <a:cs typeface="Lato"/>
                <a:sym typeface="Lato"/>
              </a:rPr>
              <a:t>process_temp_k - air_temp_k</a:t>
            </a:r>
            <a:br>
              <a:rPr lang="en-US" sz="1800" b="0" i="0" u="none" strike="noStrike" cap="none">
                <a:solidFill>
                  <a:schemeClr val="dk1"/>
                </a:solidFill>
                <a:latin typeface="Calibri"/>
                <a:ea typeface="Calibri"/>
                <a:cs typeface="Calibri"/>
                <a:sym typeface="Calibri"/>
              </a:rPr>
            </a:br>
            <a:r>
              <a:rPr lang="en-US" sz="1200" b="0" i="0" u="none" strike="noStrike" cap="none">
                <a:solidFill>
                  <a:srgbClr val="475569"/>
                </a:solidFill>
                <a:latin typeface="Lato"/>
                <a:ea typeface="Lato"/>
                <a:cs typeface="Lato"/>
                <a:sym typeface="Lato"/>
              </a:rPr>
              <a:t> Represents the heat generated by the machine's operation.</a:t>
            </a:r>
            <a:endParaRPr/>
          </a:p>
        </p:txBody>
      </p:sp>
      <p:sp>
        <p:nvSpPr>
          <p:cNvPr id="198" name="Google Shape;198;p20"/>
          <p:cNvSpPr txBox="1"/>
          <p:nvPr/>
        </p:nvSpPr>
        <p:spPr>
          <a:xfrm>
            <a:off x="6438900" y="3712815"/>
            <a:ext cx="2230278"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Poppins"/>
                <a:ea typeface="Poppins"/>
                <a:cs typeface="Poppins"/>
                <a:sym typeface="Poppins"/>
              </a:rPr>
              <a:t>Tool Wear Category</a:t>
            </a:r>
            <a:endParaRPr/>
          </a:p>
        </p:txBody>
      </p:sp>
      <p:sp>
        <p:nvSpPr>
          <p:cNvPr id="199" name="Google Shape;199;p20"/>
          <p:cNvSpPr txBox="1"/>
          <p:nvPr/>
        </p:nvSpPr>
        <p:spPr>
          <a:xfrm>
            <a:off x="6438900" y="4093815"/>
            <a:ext cx="2124075" cy="9144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475569"/>
                </a:solidFill>
                <a:latin typeface="Lato"/>
                <a:ea typeface="Lato"/>
                <a:cs typeface="Lato"/>
                <a:sym typeface="Lato"/>
              </a:rPr>
              <a:t>Binned `tool_wear_min` into categories (New, Moderate, Worn, Critical) to convert a linear feature into steps.</a:t>
            </a:r>
            <a:endParaRPr/>
          </a:p>
        </p:txBody>
      </p:sp>
      <p:sp>
        <p:nvSpPr>
          <p:cNvPr id="200" name="Google Shape;200;p20"/>
          <p:cNvSpPr txBox="1"/>
          <p:nvPr/>
        </p:nvSpPr>
        <p:spPr>
          <a:xfrm>
            <a:off x="9248775" y="3712815"/>
            <a:ext cx="2230278"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Poppins"/>
                <a:ea typeface="Poppins"/>
                <a:cs typeface="Poppins"/>
                <a:sym typeface="Poppins"/>
              </a:rPr>
              <a:t>One-Hot Encoding</a:t>
            </a:r>
            <a:endParaRPr/>
          </a:p>
        </p:txBody>
      </p:sp>
      <p:sp>
        <p:nvSpPr>
          <p:cNvPr id="201" name="Google Shape;201;p20"/>
          <p:cNvSpPr txBox="1"/>
          <p:nvPr/>
        </p:nvSpPr>
        <p:spPr>
          <a:xfrm>
            <a:off x="9248775" y="4093815"/>
            <a:ext cx="2124075" cy="9144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475569"/>
                </a:solidFill>
                <a:latin typeface="Lato"/>
                <a:ea typeface="Lato"/>
                <a:cs typeface="Lato"/>
                <a:sym typeface="Lato"/>
              </a:rPr>
              <a:t>Converted the categorical 'Type' feature (L, M, H) into numerical binary flags for the models to understand.</a:t>
            </a:r>
            <a:endParaRPr/>
          </a:p>
        </p:txBody>
      </p:sp>
      <p:pic>
        <p:nvPicPr>
          <p:cNvPr id="202" name="Google Shape;202;p20" descr="image.png"/>
          <p:cNvPicPr preferRelativeResize="0"/>
          <p:nvPr/>
        </p:nvPicPr>
        <p:blipFill rotWithShape="1">
          <a:blip r:embed="rId7">
            <a:alphaModFix/>
          </a:blip>
          <a:srcRect/>
          <a:stretch/>
        </p:blipFill>
        <p:spPr>
          <a:xfrm>
            <a:off x="819150" y="3236565"/>
            <a:ext cx="266700" cy="304800"/>
          </a:xfrm>
          <a:prstGeom prst="rect">
            <a:avLst/>
          </a:prstGeom>
          <a:noFill/>
          <a:ln>
            <a:noFill/>
          </a:ln>
        </p:spPr>
      </p:pic>
      <p:pic>
        <p:nvPicPr>
          <p:cNvPr id="203" name="Google Shape;203;p20" descr="image.png"/>
          <p:cNvPicPr preferRelativeResize="0"/>
          <p:nvPr/>
        </p:nvPicPr>
        <p:blipFill rotWithShape="1">
          <a:blip r:embed="rId8">
            <a:alphaModFix/>
          </a:blip>
          <a:srcRect/>
          <a:stretch/>
        </p:blipFill>
        <p:spPr>
          <a:xfrm>
            <a:off x="3629025" y="3236565"/>
            <a:ext cx="190500" cy="304800"/>
          </a:xfrm>
          <a:prstGeom prst="rect">
            <a:avLst/>
          </a:prstGeom>
          <a:noFill/>
          <a:ln>
            <a:noFill/>
          </a:ln>
        </p:spPr>
      </p:pic>
      <p:pic>
        <p:nvPicPr>
          <p:cNvPr id="204" name="Google Shape;204;p20" descr="image.png"/>
          <p:cNvPicPr preferRelativeResize="0"/>
          <p:nvPr/>
        </p:nvPicPr>
        <p:blipFill rotWithShape="1">
          <a:blip r:embed="rId9">
            <a:alphaModFix/>
          </a:blip>
          <a:srcRect/>
          <a:stretch/>
        </p:blipFill>
        <p:spPr>
          <a:xfrm>
            <a:off x="6438900" y="3236565"/>
            <a:ext cx="342900" cy="304800"/>
          </a:xfrm>
          <a:prstGeom prst="rect">
            <a:avLst/>
          </a:prstGeom>
          <a:noFill/>
          <a:ln>
            <a:noFill/>
          </a:ln>
        </p:spPr>
      </p:pic>
      <p:pic>
        <p:nvPicPr>
          <p:cNvPr id="205" name="Google Shape;205;p20" descr="image.png"/>
          <p:cNvPicPr preferRelativeResize="0"/>
          <p:nvPr/>
        </p:nvPicPr>
        <p:blipFill rotWithShape="1">
          <a:blip r:embed="rId10">
            <a:alphaModFix/>
          </a:blip>
          <a:srcRect/>
          <a:stretch/>
        </p:blipFill>
        <p:spPr>
          <a:xfrm>
            <a:off x="9248775" y="3236565"/>
            <a:ext cx="381000" cy="304800"/>
          </a:xfrm>
          <a:prstGeom prst="rect">
            <a:avLst/>
          </a:prstGeom>
          <a:noFill/>
          <a:ln>
            <a:noFill/>
          </a:ln>
        </p:spPr>
      </p:pic>
      <p:sp>
        <p:nvSpPr>
          <p:cNvPr id="206" name="Google Shape;206;p20"/>
          <p:cNvSpPr txBox="1"/>
          <p:nvPr/>
        </p:nvSpPr>
        <p:spPr>
          <a:xfrm>
            <a:off x="571500" y="571500"/>
            <a:ext cx="1162050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D9488"/>
                </a:solidFill>
                <a:latin typeface="Poppins"/>
                <a:ea typeface="Poppins"/>
                <a:cs typeface="Poppins"/>
                <a:sym typeface="Poppins"/>
              </a:rPr>
              <a:t>Feature Engineering &amp; Creation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0"/>
        <p:cNvGrpSpPr/>
        <p:nvPr/>
      </p:nvGrpSpPr>
      <p:grpSpPr>
        <a:xfrm>
          <a:off x="0" y="0"/>
          <a:ext cx="0" cy="0"/>
          <a:chOff x="0" y="0"/>
          <a:chExt cx="0" cy="0"/>
        </a:xfrm>
      </p:grpSpPr>
      <p:pic>
        <p:nvPicPr>
          <p:cNvPr id="211" name="Google Shape;211;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12" name="Google Shape;212;p21" descr="image.png"/>
          <p:cNvPicPr preferRelativeResize="0"/>
          <p:nvPr/>
        </p:nvPicPr>
        <p:blipFill rotWithShape="1">
          <a:blip r:embed="rId4">
            <a:alphaModFix/>
          </a:blip>
          <a:srcRect/>
          <a:stretch/>
        </p:blipFill>
        <p:spPr>
          <a:xfrm>
            <a:off x="527875" y="1106800"/>
            <a:ext cx="5421226" cy="2322200"/>
          </a:xfrm>
          <a:prstGeom prst="rect">
            <a:avLst/>
          </a:prstGeom>
          <a:noFill/>
          <a:ln>
            <a:noFill/>
          </a:ln>
        </p:spPr>
      </p:pic>
      <p:pic>
        <p:nvPicPr>
          <p:cNvPr id="213" name="Google Shape;213;p21" descr="image.png"/>
          <p:cNvPicPr preferRelativeResize="0"/>
          <p:nvPr/>
        </p:nvPicPr>
        <p:blipFill rotWithShape="1">
          <a:blip r:embed="rId5">
            <a:alphaModFix/>
          </a:blip>
          <a:srcRect/>
          <a:stretch/>
        </p:blipFill>
        <p:spPr>
          <a:xfrm>
            <a:off x="6286500" y="2032694"/>
            <a:ext cx="5334000" cy="3554462"/>
          </a:xfrm>
          <a:prstGeom prst="rect">
            <a:avLst/>
          </a:prstGeom>
          <a:noFill/>
          <a:ln>
            <a:noFill/>
          </a:ln>
        </p:spPr>
      </p:pic>
      <p:sp>
        <p:nvSpPr>
          <p:cNvPr id="214" name="Google Shape;214;p21"/>
          <p:cNvSpPr txBox="1"/>
          <p:nvPr/>
        </p:nvSpPr>
        <p:spPr>
          <a:xfrm>
            <a:off x="914325" y="1460319"/>
            <a:ext cx="49806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B82F6"/>
                </a:solidFill>
                <a:latin typeface="Poppins"/>
                <a:ea typeface="Poppins"/>
                <a:cs typeface="Poppins"/>
                <a:sym typeface="Poppins"/>
              </a:rPr>
              <a:t>The Problem</a:t>
            </a:r>
            <a:endParaRPr/>
          </a:p>
        </p:txBody>
      </p:sp>
      <p:sp>
        <p:nvSpPr>
          <p:cNvPr id="215" name="Google Shape;215;p21"/>
          <p:cNvSpPr txBox="1"/>
          <p:nvPr/>
        </p:nvSpPr>
        <p:spPr>
          <a:xfrm>
            <a:off x="866775" y="1783431"/>
            <a:ext cx="4743600" cy="12051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With only 3.4% failure cases, our training data is highly imbalanced. If the model learns from this naively, it will be heavily biased towards predicting "No Failure" and will miss the rare, important failure events.</a:t>
            </a:r>
            <a:endParaRPr/>
          </a:p>
        </p:txBody>
      </p:sp>
      <p:sp>
        <p:nvSpPr>
          <p:cNvPr id="216" name="Google Shape;216;p21"/>
          <p:cNvSpPr txBox="1"/>
          <p:nvPr/>
        </p:nvSpPr>
        <p:spPr>
          <a:xfrm>
            <a:off x="6581775" y="2327969"/>
            <a:ext cx="4980622"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B82F6"/>
                </a:solidFill>
                <a:latin typeface="Poppins"/>
                <a:ea typeface="Poppins"/>
                <a:cs typeface="Poppins"/>
                <a:sym typeface="Poppins"/>
              </a:rPr>
              <a:t>The Solution: SMOTE in a CV-Loop</a:t>
            </a:r>
            <a:endParaRPr/>
          </a:p>
        </p:txBody>
      </p:sp>
      <p:sp>
        <p:nvSpPr>
          <p:cNvPr id="217" name="Google Shape;217;p21"/>
          <p:cNvSpPr txBox="1"/>
          <p:nvPr/>
        </p:nvSpPr>
        <p:spPr>
          <a:xfrm>
            <a:off x="6581775" y="2823269"/>
            <a:ext cx="474345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We use the </a:t>
            </a:r>
            <a:r>
              <a:rPr lang="en-US" sz="1350" b="1" i="0" u="none" strike="noStrike" cap="none">
                <a:solidFill>
                  <a:srgbClr val="475569"/>
                </a:solidFill>
                <a:latin typeface="Lato"/>
                <a:ea typeface="Lato"/>
                <a:cs typeface="Lato"/>
                <a:sym typeface="Lato"/>
              </a:rPr>
              <a:t>S</a:t>
            </a:r>
            <a:r>
              <a:rPr lang="en-US" sz="1350" b="0" i="0" u="none" strike="noStrike" cap="none">
                <a:solidFill>
                  <a:srgbClr val="475569"/>
                </a:solidFill>
                <a:latin typeface="Lato"/>
                <a:ea typeface="Lato"/>
                <a:cs typeface="Lato"/>
                <a:sym typeface="Lato"/>
              </a:rPr>
              <a:t>ynthetic </a:t>
            </a:r>
            <a:r>
              <a:rPr lang="en-US" sz="1350" b="1" i="0" u="none" strike="noStrike" cap="none">
                <a:solidFill>
                  <a:srgbClr val="475569"/>
                </a:solidFill>
                <a:latin typeface="Lato"/>
                <a:ea typeface="Lato"/>
                <a:cs typeface="Lato"/>
                <a:sym typeface="Lato"/>
              </a:rPr>
              <a:t>M</a:t>
            </a:r>
            <a:r>
              <a:rPr lang="en-US" sz="1350" b="0" i="0" u="none" strike="noStrike" cap="none">
                <a:solidFill>
                  <a:srgbClr val="475569"/>
                </a:solidFill>
                <a:latin typeface="Lato"/>
                <a:ea typeface="Lato"/>
                <a:cs typeface="Lato"/>
                <a:sym typeface="Lato"/>
              </a:rPr>
              <a:t>inority </a:t>
            </a:r>
            <a:r>
              <a:rPr lang="en-US" sz="1350" b="1" i="0" u="none" strike="noStrike" cap="none">
                <a:solidFill>
                  <a:srgbClr val="475569"/>
                </a:solidFill>
                <a:latin typeface="Lato"/>
                <a:ea typeface="Lato"/>
                <a:cs typeface="Lato"/>
                <a:sym typeface="Lato"/>
              </a:rPr>
              <a:t>O</a:t>
            </a:r>
            <a:r>
              <a:rPr lang="en-US" sz="1350" b="0" i="0" u="none" strike="noStrike" cap="none">
                <a:solidFill>
                  <a:srgbClr val="475569"/>
                </a:solidFill>
                <a:latin typeface="Lato"/>
                <a:ea typeface="Lato"/>
                <a:cs typeface="Lato"/>
                <a:sym typeface="Lato"/>
              </a:rPr>
              <a:t>ver-sampling </a:t>
            </a:r>
            <a:r>
              <a:rPr lang="en-US" sz="1350" b="1" i="0" u="none" strike="noStrike" cap="none">
                <a:solidFill>
                  <a:srgbClr val="475569"/>
                </a:solidFill>
                <a:latin typeface="Lato"/>
                <a:ea typeface="Lato"/>
                <a:cs typeface="Lato"/>
                <a:sym typeface="Lato"/>
              </a:rPr>
              <a:t>TE</a:t>
            </a:r>
            <a:r>
              <a:rPr lang="en-US" sz="1350" b="0" i="0" u="none" strike="noStrike" cap="none">
                <a:solidFill>
                  <a:srgbClr val="475569"/>
                </a:solidFill>
                <a:latin typeface="Lato"/>
                <a:ea typeface="Lato"/>
                <a:cs typeface="Lato"/>
                <a:sym typeface="Lato"/>
              </a:rPr>
              <a:t>chnique (SMOTE).</a:t>
            </a:r>
            <a:endParaRPr/>
          </a:p>
        </p:txBody>
      </p:sp>
      <p:sp>
        <p:nvSpPr>
          <p:cNvPr id="218" name="Google Shape;218;p21"/>
          <p:cNvSpPr txBox="1"/>
          <p:nvPr/>
        </p:nvSpPr>
        <p:spPr>
          <a:xfrm>
            <a:off x="6581775" y="3371850"/>
            <a:ext cx="4743600" cy="1787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350" b="1" i="0" u="none" strike="noStrike" cap="none">
                <a:solidFill>
                  <a:srgbClr val="475569"/>
                </a:solidFill>
                <a:latin typeface="Lato"/>
                <a:ea typeface="Lato"/>
                <a:cs typeface="Lato"/>
                <a:sym typeface="Lato"/>
              </a:rPr>
              <a:t>Crucial Step:</a:t>
            </a:r>
            <a:r>
              <a:rPr lang="en-US" sz="1350" b="0" i="0" u="none" strike="noStrike" cap="none">
                <a:solidFill>
                  <a:srgbClr val="475569"/>
                </a:solidFill>
                <a:latin typeface="Lato"/>
                <a:ea typeface="Lato"/>
                <a:cs typeface="Lato"/>
                <a:sym typeface="Lato"/>
              </a:rPr>
              <a:t> SMOTE is applied </a:t>
            </a:r>
            <a:r>
              <a:rPr lang="en-US" sz="1350">
                <a:solidFill>
                  <a:srgbClr val="475569"/>
                </a:solidFill>
                <a:latin typeface="Lato"/>
                <a:ea typeface="Lato"/>
                <a:cs typeface="Lato"/>
                <a:sym typeface="Lato"/>
              </a:rPr>
              <a:t> </a:t>
            </a:r>
            <a:r>
              <a:rPr lang="en-US" sz="1350" b="0" i="0" u="none" strike="noStrike" cap="none">
                <a:solidFill>
                  <a:srgbClr val="475569"/>
                </a:solidFill>
                <a:latin typeface="Lato"/>
                <a:ea typeface="Lato"/>
                <a:cs typeface="Lato"/>
                <a:sym typeface="Lato"/>
              </a:rPr>
              <a:t>inside a 5-fold cross-validation loop. </a:t>
            </a:r>
            <a:br>
              <a:rPr lang="en-US" sz="1800" b="0" i="0" u="none" strike="noStrike" cap="none">
                <a:solidFill>
                  <a:schemeClr val="dk1"/>
                </a:solidFill>
                <a:latin typeface="Calibri"/>
                <a:ea typeface="Calibri"/>
                <a:cs typeface="Calibri"/>
                <a:sym typeface="Calibri"/>
              </a:rPr>
            </a:br>
            <a:br>
              <a:rPr lang="en-US" sz="1800" b="0" i="0" u="none" strike="noStrike" cap="none">
                <a:solidFill>
                  <a:schemeClr val="dk1"/>
                </a:solidFill>
                <a:latin typeface="Calibri"/>
                <a:ea typeface="Calibri"/>
                <a:cs typeface="Calibri"/>
                <a:sym typeface="Calibri"/>
              </a:rPr>
            </a:br>
            <a:r>
              <a:rPr lang="en-US" sz="1350" b="0" i="0" u="none" strike="noStrike" cap="none">
                <a:solidFill>
                  <a:srgbClr val="475569"/>
                </a:solidFill>
                <a:latin typeface="Lato"/>
                <a:ea typeface="Lato"/>
                <a:cs typeface="Lato"/>
                <a:sym typeface="Lato"/>
              </a:rPr>
              <a:t> This prevents data leakage by only generating synthetic "failure" examples within each training fold. The validation fold is always kept separate and contains only real, unseen data, giving a true measure of performance.</a:t>
            </a:r>
            <a:endParaRPr/>
          </a:p>
        </p:txBody>
      </p:sp>
      <p:sp>
        <p:nvSpPr>
          <p:cNvPr id="219" name="Google Shape;219;p21"/>
          <p:cNvSpPr txBox="1"/>
          <p:nvPr/>
        </p:nvSpPr>
        <p:spPr>
          <a:xfrm>
            <a:off x="571500" y="571500"/>
            <a:ext cx="1162050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D9488"/>
                </a:solidFill>
                <a:latin typeface="Poppins"/>
                <a:ea typeface="Poppins"/>
                <a:cs typeface="Poppins"/>
                <a:sym typeface="Poppins"/>
              </a:rPr>
              <a:t>Handling Imbalance: SMOTE &amp; Cross-Validation</a:t>
            </a:r>
            <a:endParaRPr/>
          </a:p>
        </p:txBody>
      </p:sp>
      <p:pic>
        <p:nvPicPr>
          <p:cNvPr id="220" name="Google Shape;220;p21"/>
          <p:cNvPicPr preferRelativeResize="0"/>
          <p:nvPr/>
        </p:nvPicPr>
        <p:blipFill>
          <a:blip r:embed="rId6">
            <a:alphaModFix/>
          </a:blip>
          <a:stretch>
            <a:fillRect/>
          </a:stretch>
        </p:blipFill>
        <p:spPr>
          <a:xfrm>
            <a:off x="0" y="3487250"/>
            <a:ext cx="6432501" cy="31307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4"/>
        <p:cNvGrpSpPr/>
        <p:nvPr/>
      </p:nvGrpSpPr>
      <p:grpSpPr>
        <a:xfrm>
          <a:off x="0" y="0"/>
          <a:ext cx="0" cy="0"/>
          <a:chOff x="0" y="0"/>
          <a:chExt cx="0" cy="0"/>
        </a:xfrm>
      </p:grpSpPr>
      <p:pic>
        <p:nvPicPr>
          <p:cNvPr id="225" name="Google Shape;225;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26" name="Google Shape;226;p22" descr="image.png"/>
          <p:cNvPicPr preferRelativeResize="0"/>
          <p:nvPr/>
        </p:nvPicPr>
        <p:blipFill rotWithShape="1">
          <a:blip r:embed="rId4">
            <a:alphaModFix/>
          </a:blip>
          <a:srcRect/>
          <a:stretch/>
        </p:blipFill>
        <p:spPr>
          <a:xfrm>
            <a:off x="571500" y="3074640"/>
            <a:ext cx="3555950" cy="2305050"/>
          </a:xfrm>
          <a:prstGeom prst="rect">
            <a:avLst/>
          </a:prstGeom>
          <a:noFill/>
          <a:ln>
            <a:noFill/>
          </a:ln>
        </p:spPr>
      </p:pic>
      <p:pic>
        <p:nvPicPr>
          <p:cNvPr id="227" name="Google Shape;227;p22" descr="image.png"/>
          <p:cNvPicPr preferRelativeResize="0"/>
          <p:nvPr/>
        </p:nvPicPr>
        <p:blipFill rotWithShape="1">
          <a:blip r:embed="rId5">
            <a:alphaModFix/>
          </a:blip>
          <a:srcRect/>
          <a:stretch/>
        </p:blipFill>
        <p:spPr>
          <a:xfrm>
            <a:off x="4317950" y="3074640"/>
            <a:ext cx="3555950" cy="2305050"/>
          </a:xfrm>
          <a:prstGeom prst="rect">
            <a:avLst/>
          </a:prstGeom>
          <a:noFill/>
          <a:ln>
            <a:noFill/>
          </a:ln>
        </p:spPr>
      </p:pic>
      <p:pic>
        <p:nvPicPr>
          <p:cNvPr id="228" name="Google Shape;228;p22" descr="image.png"/>
          <p:cNvPicPr preferRelativeResize="0"/>
          <p:nvPr/>
        </p:nvPicPr>
        <p:blipFill rotWithShape="1">
          <a:blip r:embed="rId6">
            <a:alphaModFix/>
          </a:blip>
          <a:srcRect/>
          <a:stretch/>
        </p:blipFill>
        <p:spPr>
          <a:xfrm>
            <a:off x="8064400" y="3074640"/>
            <a:ext cx="3556099" cy="2305050"/>
          </a:xfrm>
          <a:prstGeom prst="rect">
            <a:avLst/>
          </a:prstGeom>
          <a:noFill/>
          <a:ln>
            <a:noFill/>
          </a:ln>
        </p:spPr>
      </p:pic>
      <p:pic>
        <p:nvPicPr>
          <p:cNvPr id="229" name="Google Shape;229;p22" descr="image.png"/>
          <p:cNvPicPr preferRelativeResize="0"/>
          <p:nvPr/>
        </p:nvPicPr>
        <p:blipFill rotWithShape="1">
          <a:blip r:embed="rId7">
            <a:alphaModFix/>
          </a:blip>
          <a:srcRect/>
          <a:stretch/>
        </p:blipFill>
        <p:spPr>
          <a:xfrm>
            <a:off x="819150" y="3322290"/>
            <a:ext cx="3060650" cy="371475"/>
          </a:xfrm>
          <a:prstGeom prst="rect">
            <a:avLst/>
          </a:prstGeom>
          <a:noFill/>
          <a:ln>
            <a:noFill/>
          </a:ln>
        </p:spPr>
      </p:pic>
      <p:sp>
        <p:nvSpPr>
          <p:cNvPr id="230" name="Google Shape;230;p22"/>
          <p:cNvSpPr txBox="1"/>
          <p:nvPr/>
        </p:nvSpPr>
        <p:spPr>
          <a:xfrm>
            <a:off x="1809750" y="2240309"/>
            <a:ext cx="8572500" cy="5485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We trained three distinct classification models, all optimized for </a:t>
            </a:r>
            <a:r>
              <a:rPr lang="en-US" sz="1350" b="1" i="0" u="none" strike="noStrike" cap="none">
                <a:solidFill>
                  <a:srgbClr val="475569"/>
                </a:solidFill>
                <a:latin typeface="Lato"/>
                <a:ea typeface="Lato"/>
                <a:cs typeface="Lato"/>
                <a:sym typeface="Lato"/>
              </a:rPr>
              <a:t>'Sensitivity' (Recall)</a:t>
            </a:r>
            <a:r>
              <a:rPr lang="en-US" sz="1350" b="0" i="0" u="none" strike="noStrike" cap="none">
                <a:solidFill>
                  <a:srgbClr val="475569"/>
                </a:solidFill>
                <a:latin typeface="Lato"/>
                <a:ea typeface="Lato"/>
                <a:cs typeface="Lato"/>
                <a:sym typeface="Lato"/>
              </a:rPr>
              <a:t>. This focus ensures our primary goal is to correctly identify as many true failure events as possible.</a:t>
            </a:r>
            <a:endParaRPr/>
          </a:p>
        </p:txBody>
      </p:sp>
      <p:sp>
        <p:nvSpPr>
          <p:cNvPr id="231" name="Google Shape;231;p22"/>
          <p:cNvSpPr txBox="1"/>
          <p:nvPr/>
        </p:nvSpPr>
        <p:spPr>
          <a:xfrm>
            <a:off x="819150" y="3836640"/>
            <a:ext cx="3213682"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Poppins"/>
                <a:ea typeface="Poppins"/>
                <a:cs typeface="Poppins"/>
                <a:sym typeface="Poppins"/>
              </a:rPr>
              <a:t>Logistic Regression</a:t>
            </a:r>
            <a:endParaRPr/>
          </a:p>
        </p:txBody>
      </p:sp>
      <p:sp>
        <p:nvSpPr>
          <p:cNvPr id="232" name="Google Shape;232;p22"/>
          <p:cNvSpPr txBox="1"/>
          <p:nvPr/>
        </p:nvSpPr>
        <p:spPr>
          <a:xfrm>
            <a:off x="819150" y="4217640"/>
            <a:ext cx="3060650" cy="9144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475569"/>
                </a:solidFill>
                <a:latin typeface="Lato"/>
                <a:ea typeface="Lato"/>
                <a:cs typeface="Lato"/>
                <a:sym typeface="Lato"/>
              </a:rPr>
              <a:t>A robust and interpretable linear model. We used `glmnet` with regularization (Alpha=0.5, Lambda=0.0001) to prevent overfitting and select the most impactful features.</a:t>
            </a:r>
            <a:endParaRPr/>
          </a:p>
        </p:txBody>
      </p:sp>
      <p:sp>
        <p:nvSpPr>
          <p:cNvPr id="233" name="Google Shape;233;p22"/>
          <p:cNvSpPr txBox="1"/>
          <p:nvPr/>
        </p:nvSpPr>
        <p:spPr>
          <a:xfrm>
            <a:off x="4565600" y="3836640"/>
            <a:ext cx="3213682"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Poppins"/>
                <a:ea typeface="Poppins"/>
                <a:cs typeface="Poppins"/>
                <a:sym typeface="Poppins"/>
              </a:rPr>
              <a:t>Decision Tree</a:t>
            </a:r>
            <a:endParaRPr/>
          </a:p>
        </p:txBody>
      </p:sp>
      <p:sp>
        <p:nvSpPr>
          <p:cNvPr id="234" name="Google Shape;234;p22"/>
          <p:cNvSpPr txBox="1"/>
          <p:nvPr/>
        </p:nvSpPr>
        <p:spPr>
          <a:xfrm>
            <a:off x="4565600" y="4217640"/>
            <a:ext cx="3060650" cy="9144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475569"/>
                </a:solidFill>
                <a:latin typeface="Lato"/>
                <a:ea typeface="Lato"/>
                <a:cs typeface="Lato"/>
                <a:sym typeface="Lato"/>
              </a:rPr>
              <a:t>A simple, highly visual model. The tree was pruned using cross-validation (`cp=0.002`) to find the optimal set of rules and avoid overfitting to noise in the training data.</a:t>
            </a:r>
            <a:endParaRPr/>
          </a:p>
        </p:txBody>
      </p:sp>
      <p:sp>
        <p:nvSpPr>
          <p:cNvPr id="235" name="Google Shape;235;p22"/>
          <p:cNvSpPr txBox="1"/>
          <p:nvPr/>
        </p:nvSpPr>
        <p:spPr>
          <a:xfrm>
            <a:off x="8312050" y="3836640"/>
            <a:ext cx="3213839"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Poppins"/>
                <a:ea typeface="Poppins"/>
                <a:cs typeface="Poppins"/>
                <a:sym typeface="Poppins"/>
              </a:rPr>
              <a:t>Random Forest</a:t>
            </a:r>
            <a:endParaRPr/>
          </a:p>
        </p:txBody>
      </p:sp>
      <p:sp>
        <p:nvSpPr>
          <p:cNvPr id="236" name="Google Shape;236;p22"/>
          <p:cNvSpPr txBox="1"/>
          <p:nvPr/>
        </p:nvSpPr>
        <p:spPr>
          <a:xfrm>
            <a:off x="8312050" y="4217640"/>
            <a:ext cx="3060799" cy="9144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475569"/>
                </a:solidFill>
                <a:latin typeface="Lato"/>
                <a:ea typeface="Lato"/>
                <a:cs typeface="Lato"/>
                <a:sym typeface="Lato"/>
              </a:rPr>
              <a:t>A powerful ensemble model using 500 trees (`ranger`). By combining the votes of many trees, it reduces variance and dramatically improves predictive accuracy and stability.</a:t>
            </a:r>
            <a:endParaRPr/>
          </a:p>
        </p:txBody>
      </p:sp>
      <p:pic>
        <p:nvPicPr>
          <p:cNvPr id="237" name="Google Shape;237;p22" descr="image.png"/>
          <p:cNvPicPr preferRelativeResize="0"/>
          <p:nvPr/>
        </p:nvPicPr>
        <p:blipFill rotWithShape="1">
          <a:blip r:embed="rId8">
            <a:alphaModFix/>
          </a:blip>
          <a:srcRect/>
          <a:stretch/>
        </p:blipFill>
        <p:spPr>
          <a:xfrm>
            <a:off x="4565600" y="3360390"/>
            <a:ext cx="342900" cy="304800"/>
          </a:xfrm>
          <a:prstGeom prst="rect">
            <a:avLst/>
          </a:prstGeom>
          <a:noFill/>
          <a:ln>
            <a:noFill/>
          </a:ln>
        </p:spPr>
      </p:pic>
      <p:pic>
        <p:nvPicPr>
          <p:cNvPr id="238" name="Google Shape;238;p22" descr="image.png"/>
          <p:cNvPicPr preferRelativeResize="0"/>
          <p:nvPr/>
        </p:nvPicPr>
        <p:blipFill rotWithShape="1">
          <a:blip r:embed="rId9">
            <a:alphaModFix/>
          </a:blip>
          <a:srcRect/>
          <a:stretch/>
        </p:blipFill>
        <p:spPr>
          <a:xfrm>
            <a:off x="8312050" y="3360390"/>
            <a:ext cx="342900" cy="304800"/>
          </a:xfrm>
          <a:prstGeom prst="rect">
            <a:avLst/>
          </a:prstGeom>
          <a:noFill/>
          <a:ln>
            <a:noFill/>
          </a:ln>
        </p:spPr>
      </p:pic>
      <p:sp>
        <p:nvSpPr>
          <p:cNvPr id="239" name="Google Shape;239;p22"/>
          <p:cNvSpPr txBox="1"/>
          <p:nvPr/>
        </p:nvSpPr>
        <p:spPr>
          <a:xfrm>
            <a:off x="571500" y="571500"/>
            <a:ext cx="1162050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D9488"/>
                </a:solidFill>
                <a:latin typeface="Poppins"/>
                <a:ea typeface="Poppins"/>
                <a:cs typeface="Poppins"/>
                <a:sym typeface="Poppins"/>
              </a:rPr>
              <a:t>Models Trained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3"/>
        <p:cNvGrpSpPr/>
        <p:nvPr/>
      </p:nvGrpSpPr>
      <p:grpSpPr>
        <a:xfrm>
          <a:off x="0" y="0"/>
          <a:ext cx="0" cy="0"/>
          <a:chOff x="0" y="0"/>
          <a:chExt cx="0" cy="0"/>
        </a:xfrm>
      </p:grpSpPr>
      <p:pic>
        <p:nvPicPr>
          <p:cNvPr id="244" name="Google Shape;244;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45" name="Google Shape;245;p23"/>
          <p:cNvSpPr txBox="1"/>
          <p:nvPr/>
        </p:nvSpPr>
        <p:spPr>
          <a:xfrm>
            <a:off x="571500" y="4654897"/>
            <a:ext cx="8572500" cy="664797"/>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1" i="1" u="none" strike="noStrike" cap="none" dirty="0">
                <a:solidFill>
                  <a:srgbClr val="475569"/>
                </a:solidFill>
                <a:latin typeface="Lato"/>
                <a:ea typeface="Lato"/>
                <a:cs typeface="Lato"/>
                <a:sym typeface="Lato"/>
              </a:rPr>
              <a:t>Key Takeaway:</a:t>
            </a:r>
            <a:r>
              <a:rPr lang="en-US" sz="1350" b="0" i="1" u="none" strike="noStrike" cap="none" dirty="0">
                <a:solidFill>
                  <a:srgbClr val="475569"/>
                </a:solidFill>
                <a:latin typeface="Lato"/>
                <a:ea typeface="Lato"/>
                <a:cs typeface="Lato"/>
                <a:sym typeface="Lato"/>
              </a:rPr>
              <a:t> While all models were good at finding failures (high Recall/Sensitivity), the </a:t>
            </a:r>
            <a:r>
              <a:rPr lang="en-US" sz="1350" i="1" dirty="0">
                <a:solidFill>
                  <a:srgbClr val="475569"/>
                </a:solidFill>
                <a:latin typeface="Lato"/>
                <a:ea typeface="Lato"/>
                <a:cs typeface="Lato"/>
                <a:sym typeface="Lato"/>
              </a:rPr>
              <a:t>XGBOOST </a:t>
            </a:r>
            <a:r>
              <a:rPr lang="en-US" sz="1350" b="0" i="1" u="none" strike="noStrike" cap="none" dirty="0">
                <a:solidFill>
                  <a:srgbClr val="475569"/>
                </a:solidFill>
                <a:latin typeface="Lato"/>
                <a:ea typeface="Lato"/>
                <a:cs typeface="Lato"/>
                <a:sym typeface="Lato"/>
              </a:rPr>
              <a:t>was far superior at being </a:t>
            </a:r>
            <a:r>
              <a:rPr lang="en-US" sz="1350" b="1" i="1" u="none" strike="noStrike" cap="none" dirty="0">
                <a:solidFill>
                  <a:srgbClr val="475569"/>
                </a:solidFill>
                <a:latin typeface="Lato"/>
                <a:ea typeface="Lato"/>
                <a:cs typeface="Lato"/>
                <a:sym typeface="Lato"/>
              </a:rPr>
              <a:t>correct</a:t>
            </a:r>
            <a:r>
              <a:rPr lang="en-US" sz="1350" b="0" i="1" u="none" strike="noStrike" cap="none" dirty="0">
                <a:solidFill>
                  <a:srgbClr val="475569"/>
                </a:solidFill>
                <a:latin typeface="Lato"/>
                <a:ea typeface="Lato"/>
                <a:cs typeface="Lato"/>
                <a:sym typeface="Lato"/>
              </a:rPr>
              <a:t> when it did (highest Precision and F1-Score), leading to </a:t>
            </a:r>
            <a:r>
              <a:rPr lang="en-US" sz="1350" i="1" dirty="0">
                <a:solidFill>
                  <a:srgbClr val="475569"/>
                </a:solidFill>
                <a:latin typeface="Lato"/>
                <a:ea typeface="Lato"/>
                <a:cs typeface="Lato"/>
                <a:sym typeface="Lato"/>
              </a:rPr>
              <a:t>more accurate</a:t>
            </a:r>
            <a:r>
              <a:rPr lang="en-US" sz="1350" b="0" i="1" u="none" strike="noStrike" cap="none" dirty="0">
                <a:solidFill>
                  <a:srgbClr val="475569"/>
                </a:solidFill>
                <a:latin typeface="Lato"/>
                <a:ea typeface="Lato"/>
                <a:cs typeface="Lato"/>
                <a:sym typeface="Lato"/>
              </a:rPr>
              <a:t> alarms.</a:t>
            </a:r>
            <a:endParaRPr dirty="0"/>
          </a:p>
        </p:txBody>
      </p:sp>
      <p:sp>
        <p:nvSpPr>
          <p:cNvPr id="246" name="Google Shape;246;p23"/>
          <p:cNvSpPr/>
          <p:nvPr/>
        </p:nvSpPr>
        <p:spPr>
          <a:xfrm>
            <a:off x="571500" y="2973734"/>
            <a:ext cx="21352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7" name="Google Shape;247;p23"/>
          <p:cNvSpPr/>
          <p:nvPr/>
        </p:nvSpPr>
        <p:spPr>
          <a:xfrm>
            <a:off x="2706737" y="2973734"/>
            <a:ext cx="160139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8" name="Google Shape;248;p23"/>
          <p:cNvSpPr/>
          <p:nvPr/>
        </p:nvSpPr>
        <p:spPr>
          <a:xfrm>
            <a:off x="4308127" y="2973734"/>
            <a:ext cx="147726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9" name="Google Shape;249;p23"/>
          <p:cNvSpPr/>
          <p:nvPr/>
        </p:nvSpPr>
        <p:spPr>
          <a:xfrm>
            <a:off x="5785395" y="2973734"/>
            <a:ext cx="153932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0" name="Google Shape;250;p23"/>
          <p:cNvSpPr/>
          <p:nvPr/>
        </p:nvSpPr>
        <p:spPr>
          <a:xfrm>
            <a:off x="7324725" y="2973734"/>
            <a:ext cx="268143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1" name="Google Shape;251;p23"/>
          <p:cNvSpPr/>
          <p:nvPr/>
        </p:nvSpPr>
        <p:spPr>
          <a:xfrm>
            <a:off x="10006161" y="2973734"/>
            <a:ext cx="161433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2" name="Google Shape;252;p23"/>
          <p:cNvSpPr/>
          <p:nvPr/>
        </p:nvSpPr>
        <p:spPr>
          <a:xfrm>
            <a:off x="571500" y="3469034"/>
            <a:ext cx="21352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3" name="Google Shape;253;p23"/>
          <p:cNvSpPr/>
          <p:nvPr/>
        </p:nvSpPr>
        <p:spPr>
          <a:xfrm>
            <a:off x="2706737" y="3469034"/>
            <a:ext cx="160139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4" name="Google Shape;254;p23"/>
          <p:cNvSpPr/>
          <p:nvPr/>
        </p:nvSpPr>
        <p:spPr>
          <a:xfrm>
            <a:off x="4308127" y="3469034"/>
            <a:ext cx="147726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5" name="Google Shape;255;p23"/>
          <p:cNvSpPr/>
          <p:nvPr/>
        </p:nvSpPr>
        <p:spPr>
          <a:xfrm>
            <a:off x="5785395" y="3469034"/>
            <a:ext cx="153932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6" name="Google Shape;256;p23"/>
          <p:cNvSpPr/>
          <p:nvPr/>
        </p:nvSpPr>
        <p:spPr>
          <a:xfrm>
            <a:off x="7324725" y="3469034"/>
            <a:ext cx="268143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7" name="Google Shape;257;p23"/>
          <p:cNvSpPr/>
          <p:nvPr/>
        </p:nvSpPr>
        <p:spPr>
          <a:xfrm>
            <a:off x="10006161" y="3469034"/>
            <a:ext cx="161433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8" name="Google Shape;258;p23"/>
          <p:cNvSpPr/>
          <p:nvPr/>
        </p:nvSpPr>
        <p:spPr>
          <a:xfrm>
            <a:off x="571500" y="3964334"/>
            <a:ext cx="21352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9" name="Google Shape;259;p23"/>
          <p:cNvSpPr/>
          <p:nvPr/>
        </p:nvSpPr>
        <p:spPr>
          <a:xfrm>
            <a:off x="2706737" y="3964334"/>
            <a:ext cx="160139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0" name="Google Shape;260;p23"/>
          <p:cNvSpPr/>
          <p:nvPr/>
        </p:nvSpPr>
        <p:spPr>
          <a:xfrm>
            <a:off x="4308127" y="3964334"/>
            <a:ext cx="147726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1" name="Google Shape;261;p23"/>
          <p:cNvSpPr/>
          <p:nvPr/>
        </p:nvSpPr>
        <p:spPr>
          <a:xfrm>
            <a:off x="5785395" y="3964334"/>
            <a:ext cx="153932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2" name="Google Shape;262;p23"/>
          <p:cNvSpPr/>
          <p:nvPr/>
        </p:nvSpPr>
        <p:spPr>
          <a:xfrm>
            <a:off x="7324725" y="3964334"/>
            <a:ext cx="268143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3" name="Google Shape;263;p23"/>
          <p:cNvSpPr/>
          <p:nvPr/>
        </p:nvSpPr>
        <p:spPr>
          <a:xfrm>
            <a:off x="10006161" y="3964334"/>
            <a:ext cx="161433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4" name="Google Shape;264;p23"/>
          <p:cNvSpPr txBox="1"/>
          <p:nvPr/>
        </p:nvSpPr>
        <p:spPr>
          <a:xfrm>
            <a:off x="571500" y="571500"/>
            <a:ext cx="1162050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D9488"/>
                </a:solidFill>
                <a:latin typeface="Poppins"/>
                <a:ea typeface="Poppins"/>
                <a:cs typeface="Poppins"/>
                <a:sym typeface="Poppins"/>
              </a:rPr>
              <a:t>Model Performance Comparison (Test Set)</a:t>
            </a:r>
            <a:endParaRPr/>
          </a:p>
        </p:txBody>
      </p:sp>
      <p:pic>
        <p:nvPicPr>
          <p:cNvPr id="265" name="Google Shape;265;p23"/>
          <p:cNvPicPr preferRelativeResize="0"/>
          <p:nvPr/>
        </p:nvPicPr>
        <p:blipFill>
          <a:blip r:embed="rId4">
            <a:alphaModFix/>
          </a:blip>
          <a:stretch>
            <a:fillRect/>
          </a:stretch>
        </p:blipFill>
        <p:spPr>
          <a:xfrm>
            <a:off x="204450" y="1936925"/>
            <a:ext cx="11160575" cy="1971675"/>
          </a:xfrm>
          <a:prstGeom prst="rect">
            <a:avLst/>
          </a:prstGeom>
          <a:noFill/>
          <a:ln>
            <a:noFill/>
          </a:ln>
        </p:spPr>
      </p:pic>
      <p:sp>
        <p:nvSpPr>
          <p:cNvPr id="266" name="Google Shape;266;p23"/>
          <p:cNvSpPr txBox="1"/>
          <p:nvPr/>
        </p:nvSpPr>
        <p:spPr>
          <a:xfrm>
            <a:off x="2890575" y="622800"/>
            <a:ext cx="68460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4"/>
          <p:cNvSpPr txBox="1"/>
          <p:nvPr/>
        </p:nvSpPr>
        <p:spPr>
          <a:xfrm>
            <a:off x="380350" y="368450"/>
            <a:ext cx="11484000" cy="692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300" b="1">
                <a:solidFill>
                  <a:srgbClr val="0D9488"/>
                </a:solidFill>
                <a:latin typeface="Poppins"/>
                <a:ea typeface="Poppins"/>
                <a:cs typeface="Poppins"/>
                <a:sym typeface="Poppins"/>
              </a:rPr>
              <a:t>Confusion Matrix And ROC-AUC of  The 3 Models</a:t>
            </a:r>
            <a:endParaRPr>
              <a:solidFill>
                <a:schemeClr val="dk1"/>
              </a:solidFill>
            </a:endParaRPr>
          </a:p>
        </p:txBody>
      </p:sp>
      <p:pic>
        <p:nvPicPr>
          <p:cNvPr id="272" name="Google Shape;272;p24"/>
          <p:cNvPicPr preferRelativeResize="0"/>
          <p:nvPr/>
        </p:nvPicPr>
        <p:blipFill>
          <a:blip r:embed="rId3">
            <a:alphaModFix/>
          </a:blip>
          <a:stretch>
            <a:fillRect/>
          </a:stretch>
        </p:blipFill>
        <p:spPr>
          <a:xfrm>
            <a:off x="224462" y="982849"/>
            <a:ext cx="4061537" cy="2995300"/>
          </a:xfrm>
          <a:prstGeom prst="rect">
            <a:avLst/>
          </a:prstGeom>
          <a:noFill/>
          <a:ln>
            <a:noFill/>
          </a:ln>
        </p:spPr>
      </p:pic>
      <p:pic>
        <p:nvPicPr>
          <p:cNvPr id="273" name="Google Shape;273;p24"/>
          <p:cNvPicPr preferRelativeResize="0"/>
          <p:nvPr/>
        </p:nvPicPr>
        <p:blipFill>
          <a:blip r:embed="rId4">
            <a:alphaModFix/>
          </a:blip>
          <a:stretch>
            <a:fillRect/>
          </a:stretch>
        </p:blipFill>
        <p:spPr>
          <a:xfrm>
            <a:off x="4286000" y="982838"/>
            <a:ext cx="3979725" cy="2934950"/>
          </a:xfrm>
          <a:prstGeom prst="rect">
            <a:avLst/>
          </a:prstGeom>
          <a:noFill/>
          <a:ln>
            <a:noFill/>
          </a:ln>
        </p:spPr>
      </p:pic>
      <p:pic>
        <p:nvPicPr>
          <p:cNvPr id="274" name="Google Shape;274;p24"/>
          <p:cNvPicPr preferRelativeResize="0"/>
          <p:nvPr/>
        </p:nvPicPr>
        <p:blipFill>
          <a:blip r:embed="rId5">
            <a:alphaModFix/>
          </a:blip>
          <a:stretch>
            <a:fillRect/>
          </a:stretch>
        </p:blipFill>
        <p:spPr>
          <a:xfrm>
            <a:off x="8357675" y="982850"/>
            <a:ext cx="3834325" cy="2934951"/>
          </a:xfrm>
          <a:prstGeom prst="rect">
            <a:avLst/>
          </a:prstGeom>
          <a:noFill/>
          <a:ln>
            <a:noFill/>
          </a:ln>
        </p:spPr>
      </p:pic>
      <p:pic>
        <p:nvPicPr>
          <p:cNvPr id="275" name="Google Shape;275;p24"/>
          <p:cNvPicPr preferRelativeResize="0"/>
          <p:nvPr/>
        </p:nvPicPr>
        <p:blipFill>
          <a:blip r:embed="rId6">
            <a:alphaModFix/>
          </a:blip>
          <a:stretch>
            <a:fillRect/>
          </a:stretch>
        </p:blipFill>
        <p:spPr>
          <a:xfrm>
            <a:off x="751175" y="3862700"/>
            <a:ext cx="10792124" cy="29953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5"/>
          <p:cNvSpPr txBox="1"/>
          <p:nvPr/>
        </p:nvSpPr>
        <p:spPr>
          <a:xfrm>
            <a:off x="311400" y="230575"/>
            <a:ext cx="11719200" cy="148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Font typeface="Arial"/>
              <a:buNone/>
            </a:pPr>
            <a:r>
              <a:rPr lang="en-US" sz="3300" b="1">
                <a:solidFill>
                  <a:srgbClr val="0D9488"/>
                </a:solidFill>
                <a:latin typeface="Poppins"/>
                <a:ea typeface="Poppins"/>
                <a:cs typeface="Poppins"/>
                <a:sym typeface="Poppins"/>
              </a:rPr>
              <a:t>ROC - AUC Comparison</a:t>
            </a:r>
            <a:endParaRPr>
              <a:solidFill>
                <a:schemeClr val="dk1"/>
              </a:solidFill>
            </a:endParaRPr>
          </a:p>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pic>
        <p:nvPicPr>
          <p:cNvPr id="281" name="Google Shape;281;p25"/>
          <p:cNvPicPr preferRelativeResize="0"/>
          <p:nvPr/>
        </p:nvPicPr>
        <p:blipFill>
          <a:blip r:embed="rId3">
            <a:alphaModFix/>
          </a:blip>
          <a:stretch>
            <a:fillRect/>
          </a:stretch>
        </p:blipFill>
        <p:spPr>
          <a:xfrm>
            <a:off x="1252613" y="856300"/>
            <a:ext cx="9686776" cy="3508374"/>
          </a:xfrm>
          <a:prstGeom prst="rect">
            <a:avLst/>
          </a:prstGeom>
          <a:noFill/>
          <a:ln>
            <a:noFill/>
          </a:ln>
        </p:spPr>
      </p:pic>
      <p:pic>
        <p:nvPicPr>
          <p:cNvPr id="282" name="Google Shape;282;p25"/>
          <p:cNvPicPr preferRelativeResize="0"/>
          <p:nvPr/>
        </p:nvPicPr>
        <p:blipFill>
          <a:blip r:embed="rId4">
            <a:alphaModFix/>
          </a:blip>
          <a:stretch>
            <a:fillRect/>
          </a:stretch>
        </p:blipFill>
        <p:spPr>
          <a:xfrm>
            <a:off x="1252625" y="4756900"/>
            <a:ext cx="9779601" cy="22458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6"/>
        <p:cNvGrpSpPr/>
        <p:nvPr/>
      </p:nvGrpSpPr>
      <p:grpSpPr>
        <a:xfrm>
          <a:off x="0" y="0"/>
          <a:ext cx="0" cy="0"/>
          <a:chOff x="0" y="0"/>
          <a:chExt cx="0" cy="0"/>
        </a:xfrm>
      </p:grpSpPr>
      <p:pic>
        <p:nvPicPr>
          <p:cNvPr id="287" name="Google Shape;287;p26" descr="image.png"/>
          <p:cNvPicPr preferRelativeResize="0"/>
          <p:nvPr/>
        </p:nvPicPr>
        <p:blipFill rotWithShape="1">
          <a:blip r:embed="rId3">
            <a:alphaModFix/>
          </a:blip>
          <a:srcRect/>
          <a:stretch/>
        </p:blipFill>
        <p:spPr>
          <a:xfrm>
            <a:off x="0" y="665600"/>
            <a:ext cx="12192000" cy="6858000"/>
          </a:xfrm>
          <a:prstGeom prst="rect">
            <a:avLst/>
          </a:prstGeom>
          <a:noFill/>
          <a:ln>
            <a:noFill/>
          </a:ln>
        </p:spPr>
      </p:pic>
      <p:pic>
        <p:nvPicPr>
          <p:cNvPr id="288" name="Google Shape;288;p26" descr="image.png"/>
          <p:cNvPicPr preferRelativeResize="0"/>
          <p:nvPr/>
        </p:nvPicPr>
        <p:blipFill rotWithShape="1">
          <a:blip r:embed="rId4">
            <a:alphaModFix/>
          </a:blip>
          <a:srcRect/>
          <a:stretch/>
        </p:blipFill>
        <p:spPr>
          <a:xfrm>
            <a:off x="690075" y="2109186"/>
            <a:ext cx="5334000" cy="4257376"/>
          </a:xfrm>
          <a:prstGeom prst="rect">
            <a:avLst/>
          </a:prstGeom>
          <a:noFill/>
          <a:ln>
            <a:noFill/>
          </a:ln>
        </p:spPr>
      </p:pic>
      <p:pic>
        <p:nvPicPr>
          <p:cNvPr id="289" name="Google Shape;289;p26" descr="image.png"/>
          <p:cNvPicPr preferRelativeResize="0"/>
          <p:nvPr/>
        </p:nvPicPr>
        <p:blipFill rotWithShape="1">
          <a:blip r:embed="rId5">
            <a:alphaModFix/>
          </a:blip>
          <a:srcRect/>
          <a:stretch/>
        </p:blipFill>
        <p:spPr>
          <a:xfrm>
            <a:off x="6286500" y="1681311"/>
            <a:ext cx="5334000" cy="4257376"/>
          </a:xfrm>
          <a:prstGeom prst="rect">
            <a:avLst/>
          </a:prstGeom>
          <a:noFill/>
          <a:ln>
            <a:noFill/>
          </a:ln>
        </p:spPr>
      </p:pic>
      <p:sp>
        <p:nvSpPr>
          <p:cNvPr id="290" name="Google Shape;290;p26"/>
          <p:cNvSpPr txBox="1"/>
          <p:nvPr/>
        </p:nvSpPr>
        <p:spPr>
          <a:xfrm>
            <a:off x="923925" y="2109186"/>
            <a:ext cx="49806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B82F6"/>
                </a:solidFill>
                <a:latin typeface="Poppins"/>
                <a:ea typeface="Poppins"/>
                <a:cs typeface="Poppins"/>
                <a:sym typeface="Poppins"/>
              </a:rPr>
              <a:t>Why </a:t>
            </a:r>
            <a:r>
              <a:rPr lang="en-US" sz="2100" b="1">
                <a:solidFill>
                  <a:srgbClr val="3B82F6"/>
                </a:solidFill>
                <a:latin typeface="Poppins"/>
                <a:ea typeface="Poppins"/>
                <a:cs typeface="Poppins"/>
                <a:sym typeface="Poppins"/>
              </a:rPr>
              <a:t>XGBOOST</a:t>
            </a:r>
            <a:r>
              <a:rPr lang="en-US" sz="2100" b="1" i="0" u="none" strike="noStrike" cap="none">
                <a:solidFill>
                  <a:srgbClr val="3B82F6"/>
                </a:solidFill>
                <a:latin typeface="Poppins"/>
                <a:ea typeface="Poppins"/>
                <a:cs typeface="Poppins"/>
                <a:sym typeface="Poppins"/>
              </a:rPr>
              <a:t>?</a:t>
            </a:r>
            <a:endParaRPr/>
          </a:p>
        </p:txBody>
      </p:sp>
      <p:sp>
        <p:nvSpPr>
          <p:cNvPr id="291" name="Google Shape;291;p26"/>
          <p:cNvSpPr txBox="1"/>
          <p:nvPr/>
        </p:nvSpPr>
        <p:spPr>
          <a:xfrm>
            <a:off x="866775" y="2471886"/>
            <a:ext cx="4743600" cy="54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The </a:t>
            </a:r>
            <a:r>
              <a:rPr lang="en-US" sz="1350">
                <a:solidFill>
                  <a:srgbClr val="475569"/>
                </a:solidFill>
                <a:latin typeface="Lato"/>
                <a:ea typeface="Lato"/>
                <a:cs typeface="Lato"/>
                <a:sym typeface="Lato"/>
              </a:rPr>
              <a:t>XGBOOST </a:t>
            </a:r>
            <a:r>
              <a:rPr lang="en-US" sz="1350" b="0" i="0" u="none" strike="noStrike" cap="none">
                <a:solidFill>
                  <a:srgbClr val="475569"/>
                </a:solidFill>
                <a:latin typeface="Lato"/>
                <a:ea typeface="Lato"/>
                <a:cs typeface="Lato"/>
                <a:sym typeface="Lato"/>
              </a:rPr>
              <a:t>model is the clear winner for </a:t>
            </a:r>
            <a:r>
              <a:rPr lang="en-US" sz="1350">
                <a:solidFill>
                  <a:srgbClr val="475569"/>
                </a:solidFill>
                <a:latin typeface="Lato"/>
                <a:ea typeface="Lato"/>
                <a:cs typeface="Lato"/>
                <a:sym typeface="Lato"/>
              </a:rPr>
              <a:t>the </a:t>
            </a:r>
            <a:r>
              <a:rPr lang="en-US" sz="1350" b="0" i="0" u="none" strike="noStrike" cap="none">
                <a:solidFill>
                  <a:srgbClr val="475569"/>
                </a:solidFill>
                <a:latin typeface="Lato"/>
                <a:ea typeface="Lato"/>
                <a:cs typeface="Lato"/>
                <a:sym typeface="Lato"/>
              </a:rPr>
              <a:t>business problem.</a:t>
            </a:r>
            <a:endParaRPr/>
          </a:p>
        </p:txBody>
      </p:sp>
      <p:sp>
        <p:nvSpPr>
          <p:cNvPr id="292" name="Google Shape;292;p26"/>
          <p:cNvSpPr txBox="1"/>
          <p:nvPr/>
        </p:nvSpPr>
        <p:spPr>
          <a:xfrm>
            <a:off x="6581775" y="1976586"/>
            <a:ext cx="4980622"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B82F6"/>
                </a:solidFill>
                <a:latin typeface="Poppins"/>
                <a:ea typeface="Poppins"/>
                <a:cs typeface="Poppins"/>
                <a:sym typeface="Poppins"/>
              </a:rPr>
              <a:t>Top Predictive Features</a:t>
            </a:r>
            <a:endParaRPr/>
          </a:p>
        </p:txBody>
      </p:sp>
      <p:sp>
        <p:nvSpPr>
          <p:cNvPr id="293" name="Google Shape;293;p26"/>
          <p:cNvSpPr txBox="1"/>
          <p:nvPr/>
        </p:nvSpPr>
        <p:spPr>
          <a:xfrm>
            <a:off x="6581775" y="2471886"/>
            <a:ext cx="4743600" cy="2079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 The top drivers of failure are:</a:t>
            </a:r>
            <a:endParaRPr/>
          </a:p>
        </p:txBody>
      </p:sp>
      <p:sp>
        <p:nvSpPr>
          <p:cNvPr id="294" name="Google Shape;294;p26"/>
          <p:cNvSpPr txBox="1"/>
          <p:nvPr/>
        </p:nvSpPr>
        <p:spPr>
          <a:xfrm>
            <a:off x="1257625" y="3184376"/>
            <a:ext cx="4457700" cy="942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SzPts val="1100"/>
              <a:buNone/>
            </a:pPr>
            <a:r>
              <a:rPr lang="en-US" sz="1050" b="1">
                <a:solidFill>
                  <a:schemeClr val="dk1"/>
                </a:solidFill>
                <a:latin typeface="Roboto"/>
                <a:ea typeface="Roboto"/>
                <a:cs typeface="Roboto"/>
                <a:sym typeface="Roboto"/>
              </a:rPr>
              <a:t>1. Highest F1-Score (0.625)</a:t>
            </a:r>
            <a:endParaRPr sz="1050" b="1">
              <a:solidFill>
                <a:schemeClr val="dk1"/>
              </a:solidFill>
              <a:latin typeface="Roboto"/>
              <a:ea typeface="Roboto"/>
              <a:cs typeface="Roboto"/>
              <a:sym typeface="Roboto"/>
            </a:endParaRPr>
          </a:p>
          <a:p>
            <a:pPr marL="0" lvl="0" indent="0" algn="l" rtl="0">
              <a:spcBef>
                <a:spcPts val="1050"/>
              </a:spcBef>
              <a:spcAft>
                <a:spcPts val="600"/>
              </a:spcAft>
              <a:buClr>
                <a:schemeClr val="dk1"/>
              </a:buClr>
              <a:buSzPts val="1100"/>
              <a:buFont typeface="Arial"/>
              <a:buNone/>
            </a:pPr>
            <a:r>
              <a:rPr lang="en-US" sz="1050">
                <a:solidFill>
                  <a:schemeClr val="dk1"/>
                </a:solidFill>
                <a:latin typeface="Roboto"/>
                <a:ea typeface="Roboto"/>
                <a:cs typeface="Roboto"/>
                <a:sym typeface="Roboto"/>
              </a:rPr>
              <a:t>The F1-score is the golden metric for imbalanced data. It balances precision and recall, preventing both false alarms and missed failures. XGBoost's 0.625 is 40% better than Decision Tree (0.448) and 112% better than GLMNET (0.294).</a:t>
            </a:r>
            <a:endParaRPr sz="1050" b="1">
              <a:solidFill>
                <a:srgbClr val="475569"/>
              </a:solidFill>
              <a:latin typeface="Lato"/>
              <a:ea typeface="Lato"/>
              <a:cs typeface="Lato"/>
              <a:sym typeface="Lato"/>
            </a:endParaRPr>
          </a:p>
        </p:txBody>
      </p:sp>
      <p:sp>
        <p:nvSpPr>
          <p:cNvPr id="295" name="Google Shape;295;p26"/>
          <p:cNvSpPr txBox="1"/>
          <p:nvPr/>
        </p:nvSpPr>
        <p:spPr>
          <a:xfrm>
            <a:off x="1257625" y="4176692"/>
            <a:ext cx="4457700" cy="1123500"/>
          </a:xfrm>
          <a:prstGeom prst="rect">
            <a:avLst/>
          </a:prstGeom>
          <a:noFill/>
          <a:ln>
            <a:noFill/>
          </a:ln>
        </p:spPr>
        <p:txBody>
          <a:bodyPr spcFirstLastPara="1" wrap="square" lIns="0" tIns="0" rIns="0" bIns="0" anchor="t" anchorCtr="0">
            <a:spAutoFit/>
          </a:bodyPr>
          <a:lstStyle/>
          <a:p>
            <a:pPr marL="0" lvl="0" indent="0" algn="l" rtl="0">
              <a:spcBef>
                <a:spcPts val="1800"/>
              </a:spcBef>
              <a:spcAft>
                <a:spcPts val="0"/>
              </a:spcAft>
              <a:buClr>
                <a:schemeClr val="dk1"/>
              </a:buClr>
              <a:buSzPts val="1100"/>
              <a:buFont typeface="Arial"/>
              <a:buNone/>
            </a:pPr>
            <a:r>
              <a:rPr lang="en-US" sz="1050" b="1">
                <a:solidFill>
                  <a:schemeClr val="dk1"/>
                </a:solidFill>
                <a:latin typeface="Roboto"/>
                <a:ea typeface="Roboto"/>
                <a:cs typeface="Roboto"/>
                <a:sym typeface="Roboto"/>
              </a:rPr>
              <a:t>2. Best Precision (0.6863)</a:t>
            </a:r>
            <a:endParaRPr sz="1050" b="1">
              <a:solidFill>
                <a:schemeClr val="dk1"/>
              </a:solidFill>
              <a:latin typeface="Roboto"/>
              <a:ea typeface="Roboto"/>
              <a:cs typeface="Roboto"/>
              <a:sym typeface="Roboto"/>
            </a:endParaRPr>
          </a:p>
          <a:p>
            <a:pPr marL="0" lvl="0" indent="0" algn="l" rtl="0">
              <a:spcBef>
                <a:spcPts val="600"/>
              </a:spcBef>
              <a:spcAft>
                <a:spcPts val="0"/>
              </a:spcAft>
              <a:buClr>
                <a:schemeClr val="dk1"/>
              </a:buClr>
              <a:buSzPts val="1100"/>
              <a:buFont typeface="Arial"/>
              <a:buNone/>
            </a:pPr>
            <a:r>
              <a:rPr lang="en-US" sz="1050">
                <a:solidFill>
                  <a:schemeClr val="dk1"/>
                </a:solidFill>
                <a:latin typeface="Roboto"/>
                <a:ea typeface="Roboto"/>
                <a:cs typeface="Roboto"/>
                <a:sym typeface="Roboto"/>
              </a:rPr>
              <a:t>This means 68.6% of machines XGBoost flags as "at-risk" will actually fail. This is crucial for:</a:t>
            </a:r>
            <a:endParaRPr sz="1050">
              <a:solidFill>
                <a:schemeClr val="dk1"/>
              </a:solidFill>
              <a:latin typeface="Roboto"/>
              <a:ea typeface="Roboto"/>
              <a:cs typeface="Roboto"/>
              <a:sym typeface="Roboto"/>
            </a:endParaRPr>
          </a:p>
          <a:p>
            <a:pPr marL="457200" lvl="0" indent="-295275" algn="l" rtl="0">
              <a:spcBef>
                <a:spcPts val="600"/>
              </a:spcBef>
              <a:spcAft>
                <a:spcPts val="0"/>
              </a:spcAft>
              <a:buClr>
                <a:schemeClr val="dk1"/>
              </a:buClr>
              <a:buSzPts val="1050"/>
              <a:buFont typeface="Roboto"/>
              <a:buChar char="●"/>
            </a:pPr>
            <a:r>
              <a:rPr lang="en-US" sz="1050">
                <a:solidFill>
                  <a:schemeClr val="dk1"/>
                </a:solidFill>
                <a:latin typeface="Roboto"/>
                <a:ea typeface="Roboto"/>
                <a:cs typeface="Roboto"/>
                <a:sym typeface="Roboto"/>
              </a:rPr>
              <a:t>Reducing wasted inspection costs</a:t>
            </a:r>
            <a:endParaRPr sz="1050">
              <a:solidFill>
                <a:schemeClr val="dk1"/>
              </a:solidFill>
              <a:latin typeface="Roboto"/>
              <a:ea typeface="Roboto"/>
              <a:cs typeface="Roboto"/>
              <a:sym typeface="Roboto"/>
            </a:endParaRPr>
          </a:p>
          <a:p>
            <a:pPr marL="457200" lvl="0" indent="-295275" algn="l" rtl="0">
              <a:spcBef>
                <a:spcPts val="0"/>
              </a:spcBef>
              <a:spcAft>
                <a:spcPts val="0"/>
              </a:spcAft>
              <a:buClr>
                <a:schemeClr val="dk1"/>
              </a:buClr>
              <a:buSzPts val="1050"/>
              <a:buFont typeface="Roboto"/>
              <a:buChar char="●"/>
            </a:pPr>
            <a:r>
              <a:rPr lang="en-US" sz="1050">
                <a:solidFill>
                  <a:schemeClr val="dk1"/>
                </a:solidFill>
                <a:latin typeface="Roboto"/>
                <a:ea typeface="Roboto"/>
                <a:cs typeface="Roboto"/>
                <a:sym typeface="Roboto"/>
              </a:rPr>
              <a:t>Building maintenance team trust in the system</a:t>
            </a:r>
            <a:endParaRPr sz="1050">
              <a:solidFill>
                <a:schemeClr val="dk1"/>
              </a:solidFill>
              <a:latin typeface="Roboto"/>
              <a:ea typeface="Roboto"/>
              <a:cs typeface="Roboto"/>
              <a:sym typeface="Roboto"/>
            </a:endParaRPr>
          </a:p>
          <a:p>
            <a:pPr marL="457200" lvl="0" indent="-295275" algn="l" rtl="0">
              <a:spcBef>
                <a:spcPts val="0"/>
              </a:spcBef>
              <a:spcAft>
                <a:spcPts val="0"/>
              </a:spcAft>
              <a:buClr>
                <a:schemeClr val="dk1"/>
              </a:buClr>
              <a:buSzPts val="1050"/>
              <a:buFont typeface="Roboto"/>
              <a:buChar char="●"/>
            </a:pPr>
            <a:r>
              <a:rPr lang="en-US" sz="1050">
                <a:solidFill>
                  <a:schemeClr val="dk1"/>
                </a:solidFill>
                <a:latin typeface="Roboto"/>
                <a:ea typeface="Roboto"/>
                <a:cs typeface="Roboto"/>
                <a:sym typeface="Roboto"/>
              </a:rPr>
              <a:t>Avoiding alert fatigue</a:t>
            </a:r>
            <a:endParaRPr sz="1050" b="1">
              <a:solidFill>
                <a:srgbClr val="475569"/>
              </a:solidFill>
              <a:latin typeface="Lato"/>
              <a:ea typeface="Lato"/>
              <a:cs typeface="Lato"/>
              <a:sym typeface="Lato"/>
            </a:endParaRPr>
          </a:p>
        </p:txBody>
      </p:sp>
      <p:sp>
        <p:nvSpPr>
          <p:cNvPr id="296" name="Google Shape;296;p26"/>
          <p:cNvSpPr txBox="1"/>
          <p:nvPr/>
        </p:nvSpPr>
        <p:spPr>
          <a:xfrm>
            <a:off x="6867525" y="3437632"/>
            <a:ext cx="4457700" cy="2079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475569"/>
                </a:solidFill>
                <a:latin typeface="Lato"/>
                <a:ea typeface="Lato"/>
                <a:cs typeface="Lato"/>
                <a:sym typeface="Lato"/>
              </a:rPr>
              <a:t>Torque [Nm]</a:t>
            </a:r>
            <a:r>
              <a:rPr lang="en-US" sz="1350" b="0" i="0" u="none" strike="noStrike" cap="none">
                <a:solidFill>
                  <a:srgbClr val="475569"/>
                </a:solidFill>
                <a:latin typeface="Lato"/>
                <a:ea typeface="Lato"/>
                <a:cs typeface="Lato"/>
                <a:sym typeface="Lato"/>
              </a:rPr>
              <a:t> </a:t>
            </a:r>
            <a:endParaRPr/>
          </a:p>
        </p:txBody>
      </p:sp>
      <p:sp>
        <p:nvSpPr>
          <p:cNvPr id="297" name="Google Shape;297;p26"/>
          <p:cNvSpPr txBox="1"/>
          <p:nvPr/>
        </p:nvSpPr>
        <p:spPr>
          <a:xfrm>
            <a:off x="6867525" y="3807172"/>
            <a:ext cx="4457700" cy="2079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475569"/>
                </a:solidFill>
                <a:latin typeface="Lato"/>
                <a:ea typeface="Lato"/>
                <a:cs typeface="Lato"/>
                <a:sym typeface="Lato"/>
              </a:rPr>
              <a:t>Rotational Speed [rpm]</a:t>
            </a:r>
            <a:r>
              <a:rPr lang="en-US" sz="1350" b="0" i="0" u="none" strike="noStrike" cap="none">
                <a:solidFill>
                  <a:srgbClr val="475569"/>
                </a:solidFill>
                <a:latin typeface="Lato"/>
                <a:ea typeface="Lato"/>
                <a:cs typeface="Lato"/>
                <a:sym typeface="Lato"/>
              </a:rPr>
              <a:t> </a:t>
            </a:r>
            <a:endParaRPr/>
          </a:p>
        </p:txBody>
      </p:sp>
      <p:sp>
        <p:nvSpPr>
          <p:cNvPr id="298" name="Google Shape;298;p26"/>
          <p:cNvSpPr txBox="1"/>
          <p:nvPr/>
        </p:nvSpPr>
        <p:spPr>
          <a:xfrm>
            <a:off x="6867525" y="4176712"/>
            <a:ext cx="445770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475569"/>
                </a:solidFill>
                <a:latin typeface="Lato"/>
                <a:ea typeface="Lato"/>
                <a:cs typeface="Lato"/>
                <a:sym typeface="Lato"/>
              </a:rPr>
              <a:t>Power (kW)</a:t>
            </a:r>
            <a:r>
              <a:rPr lang="en-US" sz="1350" b="0" i="0" u="none" strike="noStrike" cap="none">
                <a:solidFill>
                  <a:srgbClr val="475569"/>
                </a:solidFill>
                <a:latin typeface="Lato"/>
                <a:ea typeface="Lato"/>
                <a:cs typeface="Lato"/>
                <a:sym typeface="Lato"/>
              </a:rPr>
              <a:t> (Engineered)</a:t>
            </a:r>
            <a:endParaRPr/>
          </a:p>
        </p:txBody>
      </p:sp>
      <p:sp>
        <p:nvSpPr>
          <p:cNvPr id="299" name="Google Shape;299;p26"/>
          <p:cNvSpPr txBox="1"/>
          <p:nvPr/>
        </p:nvSpPr>
        <p:spPr>
          <a:xfrm>
            <a:off x="6867525" y="4546252"/>
            <a:ext cx="445770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475569"/>
                </a:solidFill>
                <a:latin typeface="Lato"/>
                <a:ea typeface="Lato"/>
                <a:cs typeface="Lato"/>
                <a:sym typeface="Lato"/>
              </a:rPr>
              <a:t>Temp Difference (K)</a:t>
            </a:r>
            <a:r>
              <a:rPr lang="en-US" sz="1350" b="0" i="0" u="none" strike="noStrike" cap="none">
                <a:solidFill>
                  <a:srgbClr val="475569"/>
                </a:solidFill>
                <a:latin typeface="Lato"/>
                <a:ea typeface="Lato"/>
                <a:cs typeface="Lato"/>
                <a:sym typeface="Lato"/>
              </a:rPr>
              <a:t> (Engineered)</a:t>
            </a:r>
            <a:endParaRPr/>
          </a:p>
        </p:txBody>
      </p:sp>
      <p:sp>
        <p:nvSpPr>
          <p:cNvPr id="300" name="Google Shape;300;p26"/>
          <p:cNvSpPr txBox="1"/>
          <p:nvPr/>
        </p:nvSpPr>
        <p:spPr>
          <a:xfrm>
            <a:off x="6867525" y="4915792"/>
            <a:ext cx="445770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475569"/>
                </a:solidFill>
                <a:latin typeface="Lato"/>
                <a:ea typeface="Lato"/>
                <a:cs typeface="Lato"/>
                <a:sym typeface="Lato"/>
              </a:rPr>
              <a:t>Tool Wear Category</a:t>
            </a:r>
            <a:r>
              <a:rPr lang="en-US" sz="1350" b="0" i="0" u="none" strike="noStrike" cap="none">
                <a:solidFill>
                  <a:srgbClr val="475569"/>
                </a:solidFill>
                <a:latin typeface="Lato"/>
                <a:ea typeface="Lato"/>
                <a:cs typeface="Lato"/>
                <a:sym typeface="Lato"/>
              </a:rPr>
              <a:t> (Engineered)</a:t>
            </a:r>
            <a:endParaRPr/>
          </a:p>
        </p:txBody>
      </p:sp>
      <p:sp>
        <p:nvSpPr>
          <p:cNvPr id="301" name="Google Shape;301;p26"/>
          <p:cNvSpPr txBox="1"/>
          <p:nvPr/>
        </p:nvSpPr>
        <p:spPr>
          <a:xfrm>
            <a:off x="571500" y="571500"/>
            <a:ext cx="11620500" cy="5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D9488"/>
                </a:solidFill>
                <a:latin typeface="Poppins"/>
                <a:ea typeface="Poppins"/>
                <a:cs typeface="Poppins"/>
                <a:sym typeface="Poppins"/>
              </a:rPr>
              <a:t>Best Model:</a:t>
            </a:r>
            <a:r>
              <a:rPr lang="en-US" sz="3300" b="1">
                <a:solidFill>
                  <a:srgbClr val="0D9488"/>
                </a:solidFill>
                <a:latin typeface="Poppins"/>
                <a:ea typeface="Poppins"/>
                <a:cs typeface="Poppins"/>
                <a:sym typeface="Poppins"/>
              </a:rPr>
              <a:t> XGBOOST</a:t>
            </a:r>
            <a:r>
              <a:rPr lang="en-US" sz="3300" b="1" i="0" u="none" strike="noStrike" cap="none">
                <a:solidFill>
                  <a:srgbClr val="0D9488"/>
                </a:solidFill>
                <a:latin typeface="Poppins"/>
                <a:ea typeface="Poppins"/>
                <a:cs typeface="Poppins"/>
                <a:sym typeface="Poppins"/>
              </a:rPr>
              <a:t>, change</a:t>
            </a:r>
            <a:endParaRPr/>
          </a:p>
        </p:txBody>
      </p:sp>
      <p:pic>
        <p:nvPicPr>
          <p:cNvPr id="302" name="Google Shape;302;p26" descr="image.png"/>
          <p:cNvPicPr preferRelativeResize="0"/>
          <p:nvPr/>
        </p:nvPicPr>
        <p:blipFill rotWithShape="1">
          <a:blip r:embed="rId6">
            <a:alphaModFix/>
          </a:blip>
          <a:srcRect/>
          <a:stretch/>
        </p:blipFill>
        <p:spPr>
          <a:xfrm>
            <a:off x="1057275" y="3201441"/>
            <a:ext cx="133350" cy="152400"/>
          </a:xfrm>
          <a:prstGeom prst="rect">
            <a:avLst/>
          </a:prstGeom>
          <a:noFill/>
          <a:ln>
            <a:noFill/>
          </a:ln>
        </p:spPr>
      </p:pic>
      <p:pic>
        <p:nvPicPr>
          <p:cNvPr id="303" name="Google Shape;303;p26" descr="image.png"/>
          <p:cNvPicPr preferRelativeResize="0"/>
          <p:nvPr/>
        </p:nvPicPr>
        <p:blipFill rotWithShape="1">
          <a:blip r:embed="rId6">
            <a:alphaModFix/>
          </a:blip>
          <a:srcRect/>
          <a:stretch/>
        </p:blipFill>
        <p:spPr>
          <a:xfrm>
            <a:off x="923925" y="4250824"/>
            <a:ext cx="133350" cy="152400"/>
          </a:xfrm>
          <a:prstGeom prst="rect">
            <a:avLst/>
          </a:prstGeom>
          <a:noFill/>
          <a:ln>
            <a:noFill/>
          </a:ln>
        </p:spPr>
      </p:pic>
      <p:pic>
        <p:nvPicPr>
          <p:cNvPr id="304" name="Google Shape;304;p26" descr="image.png"/>
          <p:cNvPicPr preferRelativeResize="0"/>
          <p:nvPr/>
        </p:nvPicPr>
        <p:blipFill rotWithShape="1">
          <a:blip r:embed="rId6">
            <a:alphaModFix/>
          </a:blip>
          <a:srcRect/>
          <a:stretch/>
        </p:blipFill>
        <p:spPr>
          <a:xfrm>
            <a:off x="6772275" y="3475732"/>
            <a:ext cx="133350" cy="152400"/>
          </a:xfrm>
          <a:prstGeom prst="rect">
            <a:avLst/>
          </a:prstGeom>
          <a:noFill/>
          <a:ln>
            <a:noFill/>
          </a:ln>
        </p:spPr>
      </p:pic>
      <p:pic>
        <p:nvPicPr>
          <p:cNvPr id="305" name="Google Shape;305;p26" descr="image.png"/>
          <p:cNvPicPr preferRelativeResize="0"/>
          <p:nvPr/>
        </p:nvPicPr>
        <p:blipFill rotWithShape="1">
          <a:blip r:embed="rId6">
            <a:alphaModFix/>
          </a:blip>
          <a:srcRect/>
          <a:stretch/>
        </p:blipFill>
        <p:spPr>
          <a:xfrm>
            <a:off x="6772275" y="3845272"/>
            <a:ext cx="133350" cy="152400"/>
          </a:xfrm>
          <a:prstGeom prst="rect">
            <a:avLst/>
          </a:prstGeom>
          <a:noFill/>
          <a:ln>
            <a:noFill/>
          </a:ln>
        </p:spPr>
      </p:pic>
      <p:pic>
        <p:nvPicPr>
          <p:cNvPr id="306" name="Google Shape;306;p26" descr="image.png"/>
          <p:cNvPicPr preferRelativeResize="0"/>
          <p:nvPr/>
        </p:nvPicPr>
        <p:blipFill rotWithShape="1">
          <a:blip r:embed="rId6">
            <a:alphaModFix/>
          </a:blip>
          <a:srcRect/>
          <a:stretch/>
        </p:blipFill>
        <p:spPr>
          <a:xfrm>
            <a:off x="6772275" y="4214812"/>
            <a:ext cx="133350" cy="152400"/>
          </a:xfrm>
          <a:prstGeom prst="rect">
            <a:avLst/>
          </a:prstGeom>
          <a:noFill/>
          <a:ln>
            <a:noFill/>
          </a:ln>
        </p:spPr>
      </p:pic>
      <p:pic>
        <p:nvPicPr>
          <p:cNvPr id="307" name="Google Shape;307;p26" descr="image.png"/>
          <p:cNvPicPr preferRelativeResize="0"/>
          <p:nvPr/>
        </p:nvPicPr>
        <p:blipFill rotWithShape="1">
          <a:blip r:embed="rId6">
            <a:alphaModFix/>
          </a:blip>
          <a:srcRect/>
          <a:stretch/>
        </p:blipFill>
        <p:spPr>
          <a:xfrm>
            <a:off x="6772275" y="4584352"/>
            <a:ext cx="133350" cy="152400"/>
          </a:xfrm>
          <a:prstGeom prst="rect">
            <a:avLst/>
          </a:prstGeom>
          <a:noFill/>
          <a:ln>
            <a:noFill/>
          </a:ln>
        </p:spPr>
      </p:pic>
      <p:pic>
        <p:nvPicPr>
          <p:cNvPr id="308" name="Google Shape;308;p26" descr="image.png"/>
          <p:cNvPicPr preferRelativeResize="0"/>
          <p:nvPr/>
        </p:nvPicPr>
        <p:blipFill rotWithShape="1">
          <a:blip r:embed="rId6">
            <a:alphaModFix/>
          </a:blip>
          <a:srcRect/>
          <a:stretch/>
        </p:blipFill>
        <p:spPr>
          <a:xfrm>
            <a:off x="6772275" y="4953892"/>
            <a:ext cx="133350" cy="152400"/>
          </a:xfrm>
          <a:prstGeom prst="rect">
            <a:avLst/>
          </a:prstGeom>
          <a:noFill/>
          <a:ln>
            <a:noFill/>
          </a:ln>
        </p:spPr>
      </p:pic>
      <p:pic>
        <p:nvPicPr>
          <p:cNvPr id="309" name="Google Shape;309;p26" descr="image.png"/>
          <p:cNvPicPr preferRelativeResize="0"/>
          <p:nvPr/>
        </p:nvPicPr>
        <p:blipFill rotWithShape="1">
          <a:blip r:embed="rId6">
            <a:alphaModFix/>
          </a:blip>
          <a:srcRect/>
          <a:stretch/>
        </p:blipFill>
        <p:spPr>
          <a:xfrm>
            <a:off x="1057275" y="5300192"/>
            <a:ext cx="133350" cy="152400"/>
          </a:xfrm>
          <a:prstGeom prst="rect">
            <a:avLst/>
          </a:prstGeom>
          <a:noFill/>
          <a:ln>
            <a:noFill/>
          </a:ln>
        </p:spPr>
      </p:pic>
      <p:sp>
        <p:nvSpPr>
          <p:cNvPr id="310" name="Google Shape;310;p26"/>
          <p:cNvSpPr txBox="1"/>
          <p:nvPr/>
        </p:nvSpPr>
        <p:spPr>
          <a:xfrm>
            <a:off x="1190625" y="5300200"/>
            <a:ext cx="4041000" cy="274200"/>
          </a:xfrm>
          <a:prstGeom prst="rect">
            <a:avLst/>
          </a:prstGeom>
          <a:noFill/>
          <a:ln>
            <a:noFill/>
          </a:ln>
        </p:spPr>
        <p:txBody>
          <a:bodyPr spcFirstLastPara="1" wrap="square" lIns="91425" tIns="91425" rIns="91425" bIns="91425" anchor="t" anchorCtr="0">
            <a:noAutofit/>
          </a:bodyPr>
          <a:lstStyle/>
          <a:p>
            <a:pPr marL="0" lvl="0" indent="0" algn="l" rtl="0">
              <a:spcBef>
                <a:spcPts val="1800"/>
              </a:spcBef>
              <a:spcAft>
                <a:spcPts val="0"/>
              </a:spcAft>
              <a:buClr>
                <a:schemeClr val="dk1"/>
              </a:buClr>
              <a:buSzPts val="1100"/>
              <a:buFont typeface="Arial"/>
              <a:buNone/>
            </a:pPr>
            <a:r>
              <a:rPr lang="en-US" sz="1050" b="1">
                <a:solidFill>
                  <a:schemeClr val="dk1"/>
                </a:solidFill>
                <a:latin typeface="Roboto"/>
                <a:ea typeface="Roboto"/>
                <a:cs typeface="Roboto"/>
                <a:sym typeface="Roboto"/>
              </a:rPr>
              <a:t>3. Solid Sensitivity (0.5738)</a:t>
            </a:r>
            <a:endParaRPr sz="1050" b="1">
              <a:solidFill>
                <a:schemeClr val="dk1"/>
              </a:solidFill>
              <a:latin typeface="Roboto"/>
              <a:ea typeface="Roboto"/>
              <a:cs typeface="Roboto"/>
              <a:sym typeface="Roboto"/>
            </a:endParaRPr>
          </a:p>
          <a:p>
            <a:pPr marL="0" lvl="0" indent="0" algn="l" rtl="0">
              <a:spcBef>
                <a:spcPts val="600"/>
              </a:spcBef>
              <a:spcAft>
                <a:spcPts val="600"/>
              </a:spcAft>
              <a:buClr>
                <a:schemeClr val="dk1"/>
              </a:buClr>
              <a:buSzPts val="1100"/>
              <a:buFont typeface="Arial"/>
              <a:buNone/>
            </a:pPr>
            <a:r>
              <a:rPr lang="en-US" sz="1050">
                <a:solidFill>
                  <a:schemeClr val="dk1"/>
                </a:solidFill>
                <a:latin typeface="Roboto"/>
                <a:ea typeface="Roboto"/>
                <a:cs typeface="Roboto"/>
                <a:sym typeface="Roboto"/>
              </a:rPr>
              <a:t>While slightly lower than DT (0.672), XGBoost catches 57% of actual failures while maintaining high precision. Decision Tree catches more failures but at the cost of triple the false alarms (precision: 0.336).</a:t>
            </a:r>
            <a:endParaRPr sz="105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4"/>
        <p:cNvGrpSpPr/>
        <p:nvPr/>
      </p:nvGrpSpPr>
      <p:grpSpPr>
        <a:xfrm>
          <a:off x="0" y="0"/>
          <a:ext cx="0" cy="0"/>
          <a:chOff x="0" y="0"/>
          <a:chExt cx="0" cy="0"/>
        </a:xfrm>
      </p:grpSpPr>
      <p:pic>
        <p:nvPicPr>
          <p:cNvPr id="315" name="Google Shape;315;p27" descr="image.png"/>
          <p:cNvPicPr preferRelativeResize="0"/>
          <p:nvPr/>
        </p:nvPicPr>
        <p:blipFill rotWithShape="1">
          <a:blip r:embed="rId3">
            <a:alphaModFix/>
          </a:blip>
          <a:srcRect/>
          <a:stretch/>
        </p:blipFill>
        <p:spPr>
          <a:xfrm>
            <a:off x="136075" y="0"/>
            <a:ext cx="12192000" cy="6858000"/>
          </a:xfrm>
          <a:prstGeom prst="rect">
            <a:avLst/>
          </a:prstGeom>
          <a:noFill/>
          <a:ln>
            <a:noFill/>
          </a:ln>
        </p:spPr>
      </p:pic>
      <p:pic>
        <p:nvPicPr>
          <p:cNvPr id="316" name="Google Shape;316;p27" descr="image.png"/>
          <p:cNvPicPr preferRelativeResize="0"/>
          <p:nvPr/>
        </p:nvPicPr>
        <p:blipFill rotWithShape="1">
          <a:blip r:embed="rId4">
            <a:alphaModFix/>
          </a:blip>
          <a:srcRect/>
          <a:stretch/>
        </p:blipFill>
        <p:spPr>
          <a:xfrm>
            <a:off x="6286500" y="1905000"/>
            <a:ext cx="5334000" cy="3810000"/>
          </a:xfrm>
          <a:prstGeom prst="rect">
            <a:avLst/>
          </a:prstGeom>
          <a:noFill/>
          <a:ln>
            <a:noFill/>
          </a:ln>
        </p:spPr>
      </p:pic>
      <p:sp>
        <p:nvSpPr>
          <p:cNvPr id="317" name="Google Shape;317;p27"/>
          <p:cNvSpPr txBox="1"/>
          <p:nvPr/>
        </p:nvSpPr>
        <p:spPr>
          <a:xfrm>
            <a:off x="571500" y="1905000"/>
            <a:ext cx="5600700"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D9488"/>
                </a:solidFill>
                <a:latin typeface="Poppins"/>
                <a:ea typeface="Poppins"/>
                <a:cs typeface="Poppins"/>
                <a:sym typeface="Poppins"/>
              </a:rPr>
              <a:t>Making the Model Accessible</a:t>
            </a:r>
            <a:endParaRPr/>
          </a:p>
        </p:txBody>
      </p:sp>
      <p:sp>
        <p:nvSpPr>
          <p:cNvPr id="318" name="Google Shape;318;p27"/>
          <p:cNvSpPr txBox="1"/>
          <p:nvPr/>
        </p:nvSpPr>
        <p:spPr>
          <a:xfrm>
            <a:off x="571500" y="2333625"/>
            <a:ext cx="53340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A predictive model is only useful if it can be easily used by operators and managers on the factory floor.</a:t>
            </a:r>
            <a:endParaRPr/>
          </a:p>
        </p:txBody>
      </p:sp>
      <p:sp>
        <p:nvSpPr>
          <p:cNvPr id="319" name="Google Shape;319;p27"/>
          <p:cNvSpPr txBox="1"/>
          <p:nvPr/>
        </p:nvSpPr>
        <p:spPr>
          <a:xfrm>
            <a:off x="571500" y="2882205"/>
            <a:ext cx="53340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We designed a prototype web dashboard that connects to the live model.</a:t>
            </a:r>
            <a:endParaRPr/>
          </a:p>
        </p:txBody>
      </p:sp>
      <p:sp>
        <p:nvSpPr>
          <p:cNvPr id="320" name="Google Shape;320;p27"/>
          <p:cNvSpPr txBox="1"/>
          <p:nvPr/>
        </p:nvSpPr>
        <p:spPr>
          <a:xfrm>
            <a:off x="1047750" y="3430785"/>
            <a:ext cx="485775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Allows for real-time input of sensor data.</a:t>
            </a:r>
            <a:endParaRPr/>
          </a:p>
        </p:txBody>
      </p:sp>
      <p:sp>
        <p:nvSpPr>
          <p:cNvPr id="321" name="Google Shape;321;p27"/>
          <p:cNvSpPr txBox="1"/>
          <p:nvPr/>
        </p:nvSpPr>
        <p:spPr>
          <a:xfrm>
            <a:off x="1047750" y="3847951"/>
            <a:ext cx="485775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Generates an instant failure-risk probability.</a:t>
            </a:r>
            <a:endParaRPr/>
          </a:p>
        </p:txBody>
      </p:sp>
      <p:sp>
        <p:nvSpPr>
          <p:cNvPr id="322" name="Google Shape;322;p27"/>
          <p:cNvSpPr txBox="1"/>
          <p:nvPr/>
        </p:nvSpPr>
        <p:spPr>
          <a:xfrm>
            <a:off x="1047750" y="4265116"/>
            <a:ext cx="485775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Provides a clear, actionable alert: "Normal Operation" or "Failure Risk Detected".</a:t>
            </a:r>
            <a:endParaRPr/>
          </a:p>
        </p:txBody>
      </p:sp>
      <p:sp>
        <p:nvSpPr>
          <p:cNvPr id="323" name="Google Shape;323;p27"/>
          <p:cNvSpPr txBox="1"/>
          <p:nvPr/>
        </p:nvSpPr>
        <p:spPr>
          <a:xfrm>
            <a:off x="1047750" y="4956571"/>
            <a:ext cx="485775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Highlights the key sensor readings that are contributing to a high-risk prediction.</a:t>
            </a:r>
            <a:endParaRPr/>
          </a:p>
        </p:txBody>
      </p:sp>
      <p:sp>
        <p:nvSpPr>
          <p:cNvPr id="324" name="Google Shape;324;p27"/>
          <p:cNvSpPr txBox="1"/>
          <p:nvPr/>
        </p:nvSpPr>
        <p:spPr>
          <a:xfrm>
            <a:off x="571500" y="571500"/>
            <a:ext cx="1162050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D9488"/>
                </a:solidFill>
                <a:latin typeface="Poppins"/>
                <a:ea typeface="Poppins"/>
                <a:cs typeface="Poppins"/>
                <a:sym typeface="Poppins"/>
              </a:rPr>
              <a:t>Project Deployment: Interactive Dashboard</a:t>
            </a:r>
            <a:endParaRPr/>
          </a:p>
        </p:txBody>
      </p:sp>
      <p:pic>
        <p:nvPicPr>
          <p:cNvPr id="325" name="Google Shape;325;p27" descr="image.png"/>
          <p:cNvPicPr preferRelativeResize="0"/>
          <p:nvPr/>
        </p:nvPicPr>
        <p:blipFill rotWithShape="1">
          <a:blip r:embed="rId5">
            <a:alphaModFix/>
          </a:blip>
          <a:srcRect/>
          <a:stretch/>
        </p:blipFill>
        <p:spPr>
          <a:xfrm>
            <a:off x="762000" y="3468885"/>
            <a:ext cx="133350" cy="152400"/>
          </a:xfrm>
          <a:prstGeom prst="rect">
            <a:avLst/>
          </a:prstGeom>
          <a:noFill/>
          <a:ln>
            <a:noFill/>
          </a:ln>
        </p:spPr>
      </p:pic>
      <p:pic>
        <p:nvPicPr>
          <p:cNvPr id="326" name="Google Shape;326;p27" descr="image.png"/>
          <p:cNvPicPr preferRelativeResize="0"/>
          <p:nvPr/>
        </p:nvPicPr>
        <p:blipFill rotWithShape="1">
          <a:blip r:embed="rId5">
            <a:alphaModFix/>
          </a:blip>
          <a:srcRect/>
          <a:stretch/>
        </p:blipFill>
        <p:spPr>
          <a:xfrm>
            <a:off x="762000" y="3886051"/>
            <a:ext cx="133350" cy="152400"/>
          </a:xfrm>
          <a:prstGeom prst="rect">
            <a:avLst/>
          </a:prstGeom>
          <a:noFill/>
          <a:ln>
            <a:noFill/>
          </a:ln>
        </p:spPr>
      </p:pic>
      <p:pic>
        <p:nvPicPr>
          <p:cNvPr id="327" name="Google Shape;327;p27" descr="image.png"/>
          <p:cNvPicPr preferRelativeResize="0"/>
          <p:nvPr/>
        </p:nvPicPr>
        <p:blipFill rotWithShape="1">
          <a:blip r:embed="rId5">
            <a:alphaModFix/>
          </a:blip>
          <a:srcRect/>
          <a:stretch/>
        </p:blipFill>
        <p:spPr>
          <a:xfrm>
            <a:off x="762000" y="4303216"/>
            <a:ext cx="133350" cy="152400"/>
          </a:xfrm>
          <a:prstGeom prst="rect">
            <a:avLst/>
          </a:prstGeom>
          <a:noFill/>
          <a:ln>
            <a:noFill/>
          </a:ln>
        </p:spPr>
      </p:pic>
      <p:pic>
        <p:nvPicPr>
          <p:cNvPr id="328" name="Google Shape;328;p27" descr="image.png"/>
          <p:cNvPicPr preferRelativeResize="0"/>
          <p:nvPr/>
        </p:nvPicPr>
        <p:blipFill rotWithShape="1">
          <a:blip r:embed="rId5">
            <a:alphaModFix/>
          </a:blip>
          <a:srcRect/>
          <a:stretch/>
        </p:blipFill>
        <p:spPr>
          <a:xfrm>
            <a:off x="762000" y="4994671"/>
            <a:ext cx="133350" cy="152400"/>
          </a:xfrm>
          <a:prstGeom prst="rect">
            <a:avLst/>
          </a:prstGeom>
          <a:noFill/>
          <a:ln>
            <a:noFill/>
          </a:ln>
        </p:spPr>
      </p:pic>
      <p:pic>
        <p:nvPicPr>
          <p:cNvPr id="329" name="Google Shape;329;p27"/>
          <p:cNvPicPr preferRelativeResize="0"/>
          <p:nvPr/>
        </p:nvPicPr>
        <p:blipFill>
          <a:blip r:embed="rId6">
            <a:alphaModFix/>
          </a:blip>
          <a:stretch>
            <a:fillRect/>
          </a:stretch>
        </p:blipFill>
        <p:spPr>
          <a:xfrm>
            <a:off x="6100950" y="1922175"/>
            <a:ext cx="5862326" cy="40801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3"/>
        <p:cNvGrpSpPr/>
        <p:nvPr/>
      </p:nvGrpSpPr>
      <p:grpSpPr>
        <a:xfrm>
          <a:off x="0" y="0"/>
          <a:ext cx="0" cy="0"/>
          <a:chOff x="0" y="0"/>
          <a:chExt cx="0" cy="0"/>
        </a:xfrm>
      </p:grpSpPr>
      <p:pic>
        <p:nvPicPr>
          <p:cNvPr id="334" name="Google Shape;334;p2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35" name="Google Shape;335;p28"/>
          <p:cNvSpPr txBox="1"/>
          <p:nvPr/>
        </p:nvSpPr>
        <p:spPr>
          <a:xfrm>
            <a:off x="3825716" y="2167830"/>
            <a:ext cx="4540567" cy="114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0D9488"/>
                </a:solidFill>
                <a:latin typeface="Poppins"/>
                <a:ea typeface="Poppins"/>
                <a:cs typeface="Poppins"/>
                <a:sym typeface="Poppins"/>
              </a:rPr>
              <a:t>Questions?</a:t>
            </a:r>
            <a:endParaRPr/>
          </a:p>
        </p:txBody>
      </p:sp>
      <p:sp>
        <p:nvSpPr>
          <p:cNvPr id="336" name="Google Shape;336;p28"/>
          <p:cNvSpPr txBox="1"/>
          <p:nvPr/>
        </p:nvSpPr>
        <p:spPr>
          <a:xfrm>
            <a:off x="4676775" y="3501330"/>
            <a:ext cx="2838450" cy="426690"/>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100" b="0" i="0" u="none" strike="noStrike" cap="none">
                <a:solidFill>
                  <a:srgbClr val="475569"/>
                </a:solidFill>
                <a:latin typeface="Lato"/>
                <a:ea typeface="Lato"/>
                <a:cs typeface="Lato"/>
                <a:sym typeface="Lato"/>
              </a:rPr>
              <a:t>Thank you for your time.</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1277</Words>
  <Application>Microsoft Office PowerPoint</Application>
  <PresentationFormat>Widescreen</PresentationFormat>
  <Paragraphs>101</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Lato</vt:lpstr>
      <vt:lpstr>Calibri</vt:lpstr>
      <vt:lpstr>Roboto</vt:lpstr>
      <vt:lpstr>Poppins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Prithwiraj Chatterjee</cp:lastModifiedBy>
  <cp:revision>1</cp:revision>
  <dcterms:modified xsi:type="dcterms:W3CDTF">2025-12-11T02:06:51Z</dcterms:modified>
</cp:coreProperties>
</file>